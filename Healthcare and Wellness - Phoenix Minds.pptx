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3"/>
  </p:notesMasterIdLst>
  <p:sldIdLst>
    <p:sldId id="256" r:id="rId2"/>
    <p:sldId id="257" r:id="rId3"/>
    <p:sldId id="341" r:id="rId4"/>
    <p:sldId id="342" r:id="rId5"/>
    <p:sldId id="343" r:id="rId6"/>
    <p:sldId id="260" r:id="rId7"/>
    <p:sldId id="261" r:id="rId8"/>
    <p:sldId id="344" r:id="rId9"/>
    <p:sldId id="345" r:id="rId10"/>
    <p:sldId id="346" r:id="rId11"/>
    <p:sldId id="347" r:id="rId12"/>
  </p:sldIdLst>
  <p:sldSz cx="9144000" cy="5143500" type="screen16x9"/>
  <p:notesSz cx="6858000" cy="9144000"/>
  <p:embeddedFontLst>
    <p:embeddedFont>
      <p:font typeface="Cambay" panose="020B0604020202020204" charset="0"/>
      <p:regular r:id="rId14"/>
      <p:bold r:id="rId15"/>
      <p:italic r:id="rId16"/>
      <p:boldItalic r:id="rId17"/>
    </p:embeddedFont>
    <p:embeddedFont>
      <p:font typeface="DM Serif Text" pitchFamily="2" charset="0"/>
      <p:regular r:id="rId18"/>
      <p:italic r:id="rId19"/>
    </p:embeddedFont>
    <p:embeddedFont>
      <p:font typeface="Roboto Condensed Light" panose="02000000000000000000" pitchFamily="2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B4EF2F-1DC5-4BEE-B3C7-DDF6527CF7AC}">
  <a:tblStyle styleId="{4EB4EF2F-1DC5-4BEE-B3C7-DDF6527CF7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-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fb426853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fb426853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49544f49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49544f49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37fdd20d96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37fdd20d96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31000"/>
          </a:blip>
          <a:srcRect t="34167"/>
          <a:stretch/>
        </p:blipFill>
        <p:spPr>
          <a:xfrm>
            <a:off x="-72425" y="1771649"/>
            <a:ext cx="6918400" cy="34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31000"/>
          </a:blip>
          <a:srcRect b="71614"/>
          <a:stretch/>
        </p:blipFill>
        <p:spPr>
          <a:xfrm>
            <a:off x="2285950" y="-49902"/>
            <a:ext cx="6918400" cy="14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8953326">
            <a:off x="-487738" y="-262179"/>
            <a:ext cx="1290974" cy="1290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 rot="-487124">
            <a:off x="3826789" y="4430947"/>
            <a:ext cx="1301204" cy="1301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5">
            <a:alphaModFix amt="66000"/>
          </a:blip>
          <a:srcRect/>
          <a:stretch/>
        </p:blipFill>
        <p:spPr>
          <a:xfrm rot="-487112">
            <a:off x="3690080" y="429499"/>
            <a:ext cx="633792" cy="633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 rot="-487123">
            <a:off x="8440039" y="4295079"/>
            <a:ext cx="971953" cy="97195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3100" y="993875"/>
            <a:ext cx="4651200" cy="23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13100" y="3673825"/>
            <a:ext cx="46512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 amt="38000"/>
          </a:blip>
          <a:srcRect t="37942"/>
          <a:stretch/>
        </p:blipFill>
        <p:spPr>
          <a:xfrm>
            <a:off x="-363550" y="552200"/>
            <a:ext cx="9871124" cy="459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3">
            <a:alphaModFix amt="58000"/>
          </a:blip>
          <a:srcRect/>
          <a:stretch/>
        </p:blipFill>
        <p:spPr>
          <a:xfrm rot="-487132">
            <a:off x="8099544" y="4113931"/>
            <a:ext cx="1408810" cy="140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4">
            <a:alphaModFix amt="66000"/>
          </a:blip>
          <a:srcRect/>
          <a:stretch/>
        </p:blipFill>
        <p:spPr>
          <a:xfrm rot="-487106">
            <a:off x="-817059" y="-554343"/>
            <a:ext cx="1968163" cy="196815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2164800" y="1215750"/>
            <a:ext cx="4814400" cy="3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 amt="31000"/>
          </a:blip>
          <a:srcRect t="34167"/>
          <a:stretch/>
        </p:blipFill>
        <p:spPr>
          <a:xfrm flipH="1">
            <a:off x="2308425" y="2152649"/>
            <a:ext cx="6918400" cy="34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2">
            <a:alphaModFix amt="31000"/>
          </a:blip>
          <a:srcRect b="71614"/>
          <a:stretch/>
        </p:blipFill>
        <p:spPr>
          <a:xfrm>
            <a:off x="2285950" y="-49902"/>
            <a:ext cx="6918400" cy="14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6847917">
            <a:off x="2615236" y="41217"/>
            <a:ext cx="1151626" cy="1151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 amt="84000"/>
          </a:blip>
          <a:srcRect/>
          <a:stretch/>
        </p:blipFill>
        <p:spPr>
          <a:xfrm rot="-487121">
            <a:off x="3513258" y="4136129"/>
            <a:ext cx="811060" cy="811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5">
            <a:alphaModFix amt="60000"/>
          </a:blip>
          <a:srcRect/>
          <a:stretch/>
        </p:blipFill>
        <p:spPr>
          <a:xfrm rot="-487117">
            <a:off x="7288480" y="4430056"/>
            <a:ext cx="223202" cy="2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 rot="-487117">
            <a:off x="6335980" y="427794"/>
            <a:ext cx="223202" cy="2232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3779625" y="1566600"/>
            <a:ext cx="465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3779625" y="2408400"/>
            <a:ext cx="4651200" cy="116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1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/>
          <p:cNvPicPr preferRelativeResize="0"/>
          <p:nvPr/>
        </p:nvPicPr>
        <p:blipFill rotWithShape="1">
          <a:blip r:embed="rId2">
            <a:alphaModFix amt="38000"/>
          </a:blip>
          <a:srcRect t="37942"/>
          <a:stretch/>
        </p:blipFill>
        <p:spPr>
          <a:xfrm rot="10800000" flipH="1">
            <a:off x="-363550" y="0"/>
            <a:ext cx="9871124" cy="459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03875" y="-693050"/>
            <a:ext cx="3054025" cy="24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 rotWithShape="1">
          <a:blip r:embed="rId4">
            <a:alphaModFix/>
          </a:blip>
          <a:srcRect l="15266" t="3832" r="9641" b="5125"/>
          <a:stretch/>
        </p:blipFill>
        <p:spPr>
          <a:xfrm flipH="1">
            <a:off x="7911086" y="1391108"/>
            <a:ext cx="1039625" cy="10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 rotWithShape="1">
          <a:blip r:embed="rId5">
            <a:alphaModFix amt="31000"/>
          </a:blip>
          <a:srcRect t="34167"/>
          <a:stretch/>
        </p:blipFill>
        <p:spPr>
          <a:xfrm>
            <a:off x="-159050" y="2152649"/>
            <a:ext cx="6918400" cy="34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6">
            <a:alphaModFix amt="83000"/>
          </a:blip>
          <a:stretch>
            <a:fillRect/>
          </a:stretch>
        </p:blipFill>
        <p:spPr>
          <a:xfrm flipH="1">
            <a:off x="-1294302" y="3453625"/>
            <a:ext cx="3059725" cy="24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 rotWithShape="1">
          <a:blip r:embed="rId7">
            <a:alphaModFix amt="79000"/>
          </a:blip>
          <a:srcRect l="15266" t="3832" r="9641" b="5125"/>
          <a:stretch/>
        </p:blipFill>
        <p:spPr>
          <a:xfrm flipH="1">
            <a:off x="943574" y="4001308"/>
            <a:ext cx="1039625" cy="10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/>
          <p:cNvPicPr preferRelativeResize="0"/>
          <p:nvPr/>
        </p:nvPicPr>
        <p:blipFill rotWithShape="1">
          <a:blip r:embed="rId8">
            <a:alphaModFix amt="75000"/>
          </a:blip>
          <a:srcRect/>
          <a:stretch/>
        </p:blipFill>
        <p:spPr>
          <a:xfrm rot="-487125">
            <a:off x="135862" y="1028769"/>
            <a:ext cx="877613" cy="87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 rotWithShape="1">
          <a:blip r:embed="rId9">
            <a:alphaModFix amt="75000"/>
          </a:blip>
          <a:srcRect/>
          <a:stretch/>
        </p:blipFill>
        <p:spPr>
          <a:xfrm rot="-2529436">
            <a:off x="8115612" y="3871094"/>
            <a:ext cx="877614" cy="8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2246400" y="1566600"/>
            <a:ext cx="465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9" name="Google Shape;229;p25"/>
          <p:cNvSpPr txBox="1">
            <a:spLocks noGrp="1"/>
          </p:cNvSpPr>
          <p:nvPr>
            <p:ph type="subTitle" idx="1"/>
          </p:nvPr>
        </p:nvSpPr>
        <p:spPr>
          <a:xfrm>
            <a:off x="2246400" y="2408400"/>
            <a:ext cx="4651200" cy="116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 amt="31000"/>
          </a:blip>
          <a:srcRect t="34167"/>
          <a:stretch/>
        </p:blipFill>
        <p:spPr>
          <a:xfrm rot="10800000">
            <a:off x="2254826" y="-58523"/>
            <a:ext cx="6918400" cy="34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7"/>
          <p:cNvPicPr preferRelativeResize="0"/>
          <p:nvPr/>
        </p:nvPicPr>
        <p:blipFill rotWithShape="1">
          <a:blip r:embed="rId2">
            <a:alphaModFix amt="31000"/>
          </a:blip>
          <a:srcRect b="71614"/>
          <a:stretch/>
        </p:blipFill>
        <p:spPr>
          <a:xfrm flipH="1">
            <a:off x="-103549" y="-171449"/>
            <a:ext cx="6918400" cy="14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7"/>
          <p:cNvPicPr preferRelativeResize="0"/>
          <p:nvPr/>
        </p:nvPicPr>
        <p:blipFill rotWithShape="1">
          <a:blip r:embed="rId3">
            <a:alphaModFix amt="87000"/>
          </a:blip>
          <a:srcRect/>
          <a:stretch/>
        </p:blipFill>
        <p:spPr>
          <a:xfrm rot="9779565">
            <a:off x="-318074" y="3920268"/>
            <a:ext cx="1583266" cy="158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7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 rot="6867998">
            <a:off x="7776478" y="3931782"/>
            <a:ext cx="1588296" cy="158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7"/>
          <p:cNvPicPr preferRelativeResize="0"/>
          <p:nvPr/>
        </p:nvPicPr>
        <p:blipFill rotWithShape="1">
          <a:blip r:embed="rId5">
            <a:alphaModFix amt="69000"/>
          </a:blip>
          <a:srcRect/>
          <a:stretch/>
        </p:blipFill>
        <p:spPr>
          <a:xfrm rot="9174797">
            <a:off x="-472517" y="3533564"/>
            <a:ext cx="1055868" cy="105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7"/>
          <p:cNvPicPr preferRelativeResize="0"/>
          <p:nvPr/>
        </p:nvPicPr>
        <p:blipFill rotWithShape="1">
          <a:blip r:embed="rId6">
            <a:alphaModFix amt="75000"/>
          </a:blip>
          <a:srcRect/>
          <a:stretch/>
        </p:blipFill>
        <p:spPr>
          <a:xfrm rot="-10702993">
            <a:off x="8324472" y="3410938"/>
            <a:ext cx="978885" cy="97885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52"/>
          <p:cNvPicPr preferRelativeResize="0"/>
          <p:nvPr/>
        </p:nvPicPr>
        <p:blipFill rotWithShape="1">
          <a:blip r:embed="rId2">
            <a:alphaModFix amt="31000"/>
          </a:blip>
          <a:srcRect t="34167"/>
          <a:stretch/>
        </p:blipFill>
        <p:spPr>
          <a:xfrm>
            <a:off x="-159050" y="2152649"/>
            <a:ext cx="6918400" cy="34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2"/>
          <p:cNvPicPr preferRelativeResize="0"/>
          <p:nvPr/>
        </p:nvPicPr>
        <p:blipFill rotWithShape="1">
          <a:blip r:embed="rId3">
            <a:alphaModFix amt="38000"/>
          </a:blip>
          <a:srcRect t="37942"/>
          <a:stretch/>
        </p:blipFill>
        <p:spPr>
          <a:xfrm rot="10800000" flipH="1">
            <a:off x="-363550" y="0"/>
            <a:ext cx="9871124" cy="459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2"/>
          <p:cNvPicPr preferRelativeResize="0"/>
          <p:nvPr/>
        </p:nvPicPr>
        <p:blipFill rotWithShape="1">
          <a:blip r:embed="rId4">
            <a:alphaModFix amt="87000"/>
          </a:blip>
          <a:srcRect/>
          <a:stretch/>
        </p:blipFill>
        <p:spPr>
          <a:xfrm rot="-117636" flipH="1">
            <a:off x="-836824" y="-782924"/>
            <a:ext cx="3037322" cy="303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2"/>
          <p:cNvPicPr preferRelativeResize="0"/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 rot="4516150" flipH="1">
            <a:off x="6777356" y="2981482"/>
            <a:ext cx="3250139" cy="325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2"/>
          <p:cNvPicPr preferRelativeResize="0"/>
          <p:nvPr/>
        </p:nvPicPr>
        <p:blipFill rotWithShape="1">
          <a:blip r:embed="rId6">
            <a:alphaModFix amt="69000"/>
          </a:blip>
          <a:srcRect/>
          <a:stretch/>
        </p:blipFill>
        <p:spPr>
          <a:xfrm rot="487122" flipH="1">
            <a:off x="2317517" y="-374933"/>
            <a:ext cx="1005191" cy="1005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2"/>
          <p:cNvPicPr preferRelativeResize="0"/>
          <p:nvPr/>
        </p:nvPicPr>
        <p:blipFill rotWithShape="1">
          <a:blip r:embed="rId7">
            <a:alphaModFix amt="75000"/>
          </a:blip>
          <a:srcRect/>
          <a:stretch/>
        </p:blipFill>
        <p:spPr>
          <a:xfrm rot="487143" flipH="1">
            <a:off x="6242368" y="4449328"/>
            <a:ext cx="907356" cy="90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52"/>
          <p:cNvPicPr preferRelativeResize="0"/>
          <p:nvPr/>
        </p:nvPicPr>
        <p:blipFill rotWithShape="1">
          <a:blip r:embed="rId8">
            <a:alphaModFix amt="60000"/>
          </a:blip>
          <a:srcRect/>
          <a:stretch/>
        </p:blipFill>
        <p:spPr>
          <a:xfrm rot="-487117">
            <a:off x="6773980" y="840644"/>
            <a:ext cx="223202" cy="2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2"/>
          <p:cNvPicPr preferRelativeResize="0"/>
          <p:nvPr/>
        </p:nvPicPr>
        <p:blipFill rotWithShape="1">
          <a:blip r:embed="rId9">
            <a:alphaModFix amt="60000"/>
          </a:blip>
          <a:srcRect/>
          <a:stretch/>
        </p:blipFill>
        <p:spPr>
          <a:xfrm rot="-487117">
            <a:off x="1573330" y="3945794"/>
            <a:ext cx="223202" cy="223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53"/>
          <p:cNvPicPr preferRelativeResize="0"/>
          <p:nvPr/>
        </p:nvPicPr>
        <p:blipFill rotWithShape="1">
          <a:blip r:embed="rId2">
            <a:alphaModFix amt="31000"/>
          </a:blip>
          <a:srcRect b="71614"/>
          <a:stretch/>
        </p:blipFill>
        <p:spPr>
          <a:xfrm flipH="1">
            <a:off x="0" y="-30753"/>
            <a:ext cx="6918400" cy="14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3"/>
          <p:cNvPicPr preferRelativeResize="0"/>
          <p:nvPr/>
        </p:nvPicPr>
        <p:blipFill rotWithShape="1">
          <a:blip r:embed="rId3">
            <a:alphaModFix amt="87000"/>
          </a:blip>
          <a:srcRect/>
          <a:stretch/>
        </p:blipFill>
        <p:spPr>
          <a:xfrm rot="117638">
            <a:off x="8017972" y="-667433"/>
            <a:ext cx="2073707" cy="2073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3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 rot="-487136">
            <a:off x="-676155" y="4045929"/>
            <a:ext cx="1494185" cy="149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DM Serif Text"/>
              <a:buNone/>
              <a:defRPr sz="3500" b="1">
                <a:solidFill>
                  <a:schemeClr val="dk2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veria Libre"/>
              <a:buNone/>
              <a:defRPr sz="3500" b="1">
                <a:solidFill>
                  <a:schemeClr val="dk1"/>
                </a:solidFill>
                <a:latin typeface="Averia Libre"/>
                <a:ea typeface="Averia Libre"/>
                <a:cs typeface="Averia Libre"/>
                <a:sym typeface="Averia Libr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●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●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●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71" r:id="rId5"/>
    <p:sldLayoutId id="2147483693" r:id="rId6"/>
    <p:sldLayoutId id="2147483698" r:id="rId7"/>
    <p:sldLayoutId id="214748369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mailto:20250802675@dypiu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59"/>
          <p:cNvPicPr preferRelativeResize="0"/>
          <p:nvPr/>
        </p:nvPicPr>
        <p:blipFill rotWithShape="1">
          <a:blip r:embed="rId3">
            <a:alphaModFix amt="87000"/>
          </a:blip>
          <a:srcRect/>
          <a:stretch/>
        </p:blipFill>
        <p:spPr>
          <a:xfrm rot="117636">
            <a:off x="5518082" y="871043"/>
            <a:ext cx="2469035" cy="246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8" name="Google Shape;568;p59"/>
          <p:cNvGrpSpPr/>
          <p:nvPr/>
        </p:nvGrpSpPr>
        <p:grpSpPr>
          <a:xfrm flipH="1">
            <a:off x="5765142" y="1332626"/>
            <a:ext cx="3046765" cy="5044129"/>
            <a:chOff x="1559750" y="1367850"/>
            <a:chExt cx="2473425" cy="4094925"/>
          </a:xfrm>
        </p:grpSpPr>
        <p:sp>
          <p:nvSpPr>
            <p:cNvPr id="569" name="Google Shape;569;p59"/>
            <p:cNvSpPr/>
            <p:nvPr/>
          </p:nvSpPr>
          <p:spPr>
            <a:xfrm>
              <a:off x="2808975" y="2514075"/>
              <a:ext cx="384850" cy="560525"/>
            </a:xfrm>
            <a:custGeom>
              <a:avLst/>
              <a:gdLst/>
              <a:ahLst/>
              <a:cxnLst/>
              <a:rect l="l" t="t" r="r" b="b"/>
              <a:pathLst>
                <a:path w="15394" h="22421" extrusionOk="0">
                  <a:moveTo>
                    <a:pt x="11012" y="0"/>
                  </a:moveTo>
                  <a:cubicBezTo>
                    <a:pt x="10777" y="0"/>
                    <a:pt x="10544" y="16"/>
                    <a:pt x="10315" y="45"/>
                  </a:cubicBezTo>
                  <a:cubicBezTo>
                    <a:pt x="9327" y="187"/>
                    <a:pt x="8418" y="547"/>
                    <a:pt x="7556" y="986"/>
                  </a:cubicBezTo>
                  <a:cubicBezTo>
                    <a:pt x="6694" y="1440"/>
                    <a:pt x="5879" y="1973"/>
                    <a:pt x="5142" y="2600"/>
                  </a:cubicBezTo>
                  <a:lnTo>
                    <a:pt x="5189" y="2632"/>
                  </a:lnTo>
                  <a:cubicBezTo>
                    <a:pt x="5565" y="2350"/>
                    <a:pt x="5973" y="2083"/>
                    <a:pt x="6380" y="1848"/>
                  </a:cubicBezTo>
                  <a:cubicBezTo>
                    <a:pt x="6788" y="1597"/>
                    <a:pt x="7211" y="1362"/>
                    <a:pt x="7634" y="1174"/>
                  </a:cubicBezTo>
                  <a:cubicBezTo>
                    <a:pt x="8496" y="767"/>
                    <a:pt x="9421" y="469"/>
                    <a:pt x="10346" y="375"/>
                  </a:cubicBezTo>
                  <a:cubicBezTo>
                    <a:pt x="10522" y="357"/>
                    <a:pt x="10699" y="348"/>
                    <a:pt x="10874" y="348"/>
                  </a:cubicBezTo>
                  <a:cubicBezTo>
                    <a:pt x="11167" y="348"/>
                    <a:pt x="11457" y="373"/>
                    <a:pt x="11741" y="422"/>
                  </a:cubicBezTo>
                  <a:cubicBezTo>
                    <a:pt x="12180" y="516"/>
                    <a:pt x="12619" y="688"/>
                    <a:pt x="12995" y="923"/>
                  </a:cubicBezTo>
                  <a:cubicBezTo>
                    <a:pt x="13773" y="1405"/>
                    <a:pt x="14334" y="2165"/>
                    <a:pt x="14741" y="2989"/>
                  </a:cubicBezTo>
                  <a:lnTo>
                    <a:pt x="14741" y="2989"/>
                  </a:lnTo>
                  <a:cubicBezTo>
                    <a:pt x="14816" y="3707"/>
                    <a:pt x="14860" y="4438"/>
                    <a:pt x="14860" y="5155"/>
                  </a:cubicBezTo>
                  <a:cubicBezTo>
                    <a:pt x="14860" y="5908"/>
                    <a:pt x="14829" y="6660"/>
                    <a:pt x="14766" y="7397"/>
                  </a:cubicBezTo>
                  <a:cubicBezTo>
                    <a:pt x="14641" y="8886"/>
                    <a:pt x="14359" y="10359"/>
                    <a:pt x="13904" y="11754"/>
                  </a:cubicBezTo>
                  <a:cubicBezTo>
                    <a:pt x="13434" y="13165"/>
                    <a:pt x="12776" y="14513"/>
                    <a:pt x="11882" y="15688"/>
                  </a:cubicBezTo>
                  <a:cubicBezTo>
                    <a:pt x="10989" y="16864"/>
                    <a:pt x="9876" y="17852"/>
                    <a:pt x="8590" y="18588"/>
                  </a:cubicBezTo>
                  <a:lnTo>
                    <a:pt x="8575" y="18604"/>
                  </a:lnTo>
                  <a:lnTo>
                    <a:pt x="8559" y="18620"/>
                  </a:lnTo>
                  <a:cubicBezTo>
                    <a:pt x="7854" y="19200"/>
                    <a:pt x="7101" y="19764"/>
                    <a:pt x="6318" y="20281"/>
                  </a:cubicBezTo>
                  <a:cubicBezTo>
                    <a:pt x="5550" y="20783"/>
                    <a:pt x="4750" y="21269"/>
                    <a:pt x="3904" y="21629"/>
                  </a:cubicBezTo>
                  <a:cubicBezTo>
                    <a:pt x="3481" y="21817"/>
                    <a:pt x="3057" y="21974"/>
                    <a:pt x="2603" y="22068"/>
                  </a:cubicBezTo>
                  <a:cubicBezTo>
                    <a:pt x="2391" y="22113"/>
                    <a:pt x="2175" y="22140"/>
                    <a:pt x="1961" y="22140"/>
                  </a:cubicBezTo>
                  <a:cubicBezTo>
                    <a:pt x="1732" y="22140"/>
                    <a:pt x="1505" y="22109"/>
                    <a:pt x="1286" y="22037"/>
                  </a:cubicBezTo>
                  <a:cubicBezTo>
                    <a:pt x="1082" y="21974"/>
                    <a:pt x="894" y="21848"/>
                    <a:pt x="753" y="21692"/>
                  </a:cubicBezTo>
                  <a:cubicBezTo>
                    <a:pt x="597" y="21535"/>
                    <a:pt x="471" y="21347"/>
                    <a:pt x="377" y="21143"/>
                  </a:cubicBezTo>
                  <a:cubicBezTo>
                    <a:pt x="205" y="20736"/>
                    <a:pt x="142" y="20265"/>
                    <a:pt x="111" y="19795"/>
                  </a:cubicBezTo>
                  <a:lnTo>
                    <a:pt x="1" y="19811"/>
                  </a:lnTo>
                  <a:cubicBezTo>
                    <a:pt x="1" y="20281"/>
                    <a:pt x="32" y="20751"/>
                    <a:pt x="205" y="21221"/>
                  </a:cubicBezTo>
                  <a:cubicBezTo>
                    <a:pt x="299" y="21441"/>
                    <a:pt x="424" y="21660"/>
                    <a:pt x="581" y="21848"/>
                  </a:cubicBezTo>
                  <a:cubicBezTo>
                    <a:pt x="753" y="22037"/>
                    <a:pt x="973" y="22178"/>
                    <a:pt x="1208" y="22272"/>
                  </a:cubicBezTo>
                  <a:cubicBezTo>
                    <a:pt x="1479" y="22380"/>
                    <a:pt x="1766" y="22421"/>
                    <a:pt x="2050" y="22421"/>
                  </a:cubicBezTo>
                  <a:cubicBezTo>
                    <a:pt x="2259" y="22421"/>
                    <a:pt x="2467" y="22399"/>
                    <a:pt x="2666" y="22366"/>
                  </a:cubicBezTo>
                  <a:cubicBezTo>
                    <a:pt x="3136" y="22287"/>
                    <a:pt x="3606" y="22146"/>
                    <a:pt x="4045" y="21974"/>
                  </a:cubicBezTo>
                  <a:cubicBezTo>
                    <a:pt x="4923" y="21613"/>
                    <a:pt x="5769" y="21143"/>
                    <a:pt x="6568" y="20642"/>
                  </a:cubicBezTo>
                  <a:cubicBezTo>
                    <a:pt x="7368" y="20140"/>
                    <a:pt x="8136" y="19591"/>
                    <a:pt x="8873" y="18996"/>
                  </a:cubicBezTo>
                  <a:lnTo>
                    <a:pt x="8873" y="18996"/>
                  </a:lnTo>
                  <a:lnTo>
                    <a:pt x="8841" y="19027"/>
                  </a:lnTo>
                  <a:cubicBezTo>
                    <a:pt x="10189" y="18275"/>
                    <a:pt x="11381" y="17240"/>
                    <a:pt x="12321" y="16018"/>
                  </a:cubicBezTo>
                  <a:cubicBezTo>
                    <a:pt x="13261" y="14795"/>
                    <a:pt x="13951" y="13400"/>
                    <a:pt x="14437" y="11942"/>
                  </a:cubicBezTo>
                  <a:cubicBezTo>
                    <a:pt x="14907" y="10485"/>
                    <a:pt x="15189" y="8964"/>
                    <a:pt x="15315" y="7444"/>
                  </a:cubicBezTo>
                  <a:cubicBezTo>
                    <a:pt x="15377" y="6676"/>
                    <a:pt x="15393" y="5923"/>
                    <a:pt x="15377" y="5155"/>
                  </a:cubicBezTo>
                  <a:cubicBezTo>
                    <a:pt x="15362" y="4387"/>
                    <a:pt x="15315" y="3635"/>
                    <a:pt x="15205" y="2867"/>
                  </a:cubicBezTo>
                  <a:lnTo>
                    <a:pt x="15189" y="2836"/>
                  </a:lnTo>
                  <a:lnTo>
                    <a:pt x="15174" y="2788"/>
                  </a:lnTo>
                  <a:cubicBezTo>
                    <a:pt x="14954" y="2350"/>
                    <a:pt x="14688" y="1926"/>
                    <a:pt x="14359" y="1550"/>
                  </a:cubicBezTo>
                  <a:cubicBezTo>
                    <a:pt x="14029" y="1174"/>
                    <a:pt x="13653" y="829"/>
                    <a:pt x="13214" y="578"/>
                  </a:cubicBezTo>
                  <a:cubicBezTo>
                    <a:pt x="12776" y="312"/>
                    <a:pt x="12290" y="140"/>
                    <a:pt x="11804" y="61"/>
                  </a:cubicBezTo>
                  <a:cubicBezTo>
                    <a:pt x="11539" y="20"/>
                    <a:pt x="11274" y="0"/>
                    <a:pt x="11012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9"/>
            <p:cNvSpPr/>
            <p:nvPr/>
          </p:nvSpPr>
          <p:spPr>
            <a:xfrm>
              <a:off x="2969650" y="2536750"/>
              <a:ext cx="174000" cy="266875"/>
            </a:xfrm>
            <a:custGeom>
              <a:avLst/>
              <a:gdLst/>
              <a:ahLst/>
              <a:cxnLst/>
              <a:rect l="l" t="t" r="r" b="b"/>
              <a:pathLst>
                <a:path w="6960" h="10675" extrusionOk="0">
                  <a:moveTo>
                    <a:pt x="4029" y="1"/>
                  </a:moveTo>
                  <a:cubicBezTo>
                    <a:pt x="3966" y="1"/>
                    <a:pt x="3903" y="16"/>
                    <a:pt x="3809" y="16"/>
                  </a:cubicBezTo>
                  <a:lnTo>
                    <a:pt x="3794" y="16"/>
                  </a:lnTo>
                  <a:lnTo>
                    <a:pt x="3794" y="32"/>
                  </a:lnTo>
                  <a:cubicBezTo>
                    <a:pt x="3135" y="189"/>
                    <a:pt x="2493" y="424"/>
                    <a:pt x="1897" y="769"/>
                  </a:cubicBezTo>
                  <a:cubicBezTo>
                    <a:pt x="1317" y="1129"/>
                    <a:pt x="800" y="1615"/>
                    <a:pt x="455" y="2226"/>
                  </a:cubicBezTo>
                  <a:cubicBezTo>
                    <a:pt x="126" y="2838"/>
                    <a:pt x="0" y="3543"/>
                    <a:pt x="47" y="4217"/>
                  </a:cubicBezTo>
                  <a:cubicBezTo>
                    <a:pt x="63" y="4546"/>
                    <a:pt x="126" y="4875"/>
                    <a:pt x="204" y="5204"/>
                  </a:cubicBezTo>
                  <a:cubicBezTo>
                    <a:pt x="298" y="5518"/>
                    <a:pt x="408" y="5831"/>
                    <a:pt x="565" y="6129"/>
                  </a:cubicBezTo>
                  <a:lnTo>
                    <a:pt x="612" y="6098"/>
                  </a:lnTo>
                  <a:cubicBezTo>
                    <a:pt x="392" y="5487"/>
                    <a:pt x="283" y="4844"/>
                    <a:pt x="298" y="4201"/>
                  </a:cubicBezTo>
                  <a:cubicBezTo>
                    <a:pt x="314" y="3574"/>
                    <a:pt x="471" y="2947"/>
                    <a:pt x="800" y="2430"/>
                  </a:cubicBezTo>
                  <a:cubicBezTo>
                    <a:pt x="1113" y="1897"/>
                    <a:pt x="1599" y="1490"/>
                    <a:pt x="2148" y="1192"/>
                  </a:cubicBezTo>
                  <a:cubicBezTo>
                    <a:pt x="2696" y="894"/>
                    <a:pt x="3292" y="690"/>
                    <a:pt x="3919" y="549"/>
                  </a:cubicBezTo>
                  <a:lnTo>
                    <a:pt x="3919" y="549"/>
                  </a:lnTo>
                  <a:lnTo>
                    <a:pt x="3888" y="565"/>
                  </a:lnTo>
                  <a:cubicBezTo>
                    <a:pt x="3935" y="549"/>
                    <a:pt x="3997" y="549"/>
                    <a:pt x="4044" y="549"/>
                  </a:cubicBezTo>
                  <a:lnTo>
                    <a:pt x="4217" y="549"/>
                  </a:lnTo>
                  <a:cubicBezTo>
                    <a:pt x="4327" y="565"/>
                    <a:pt x="4452" y="581"/>
                    <a:pt x="4562" y="596"/>
                  </a:cubicBezTo>
                  <a:cubicBezTo>
                    <a:pt x="4781" y="643"/>
                    <a:pt x="4985" y="722"/>
                    <a:pt x="5173" y="847"/>
                  </a:cubicBezTo>
                  <a:cubicBezTo>
                    <a:pt x="5565" y="1066"/>
                    <a:pt x="5863" y="1427"/>
                    <a:pt x="6051" y="1850"/>
                  </a:cubicBezTo>
                  <a:cubicBezTo>
                    <a:pt x="6239" y="2289"/>
                    <a:pt x="6333" y="2759"/>
                    <a:pt x="6380" y="3245"/>
                  </a:cubicBezTo>
                  <a:cubicBezTo>
                    <a:pt x="6427" y="3731"/>
                    <a:pt x="6411" y="4233"/>
                    <a:pt x="6380" y="4719"/>
                  </a:cubicBezTo>
                  <a:cubicBezTo>
                    <a:pt x="6301" y="5722"/>
                    <a:pt x="6113" y="6709"/>
                    <a:pt x="5878" y="7697"/>
                  </a:cubicBezTo>
                  <a:cubicBezTo>
                    <a:pt x="5659" y="8684"/>
                    <a:pt x="5377" y="9656"/>
                    <a:pt x="5079" y="10643"/>
                  </a:cubicBezTo>
                  <a:lnTo>
                    <a:pt x="5189" y="10675"/>
                  </a:lnTo>
                  <a:cubicBezTo>
                    <a:pt x="5596" y="9734"/>
                    <a:pt x="5957" y="8778"/>
                    <a:pt x="6254" y="7791"/>
                  </a:cubicBezTo>
                  <a:cubicBezTo>
                    <a:pt x="6552" y="6819"/>
                    <a:pt x="6787" y="5800"/>
                    <a:pt x="6897" y="4766"/>
                  </a:cubicBezTo>
                  <a:cubicBezTo>
                    <a:pt x="6944" y="4248"/>
                    <a:pt x="6960" y="3731"/>
                    <a:pt x="6928" y="3198"/>
                  </a:cubicBezTo>
                  <a:cubicBezTo>
                    <a:pt x="6881" y="2665"/>
                    <a:pt x="6787" y="2132"/>
                    <a:pt x="6552" y="1631"/>
                  </a:cubicBezTo>
                  <a:cubicBezTo>
                    <a:pt x="6443" y="1380"/>
                    <a:pt x="6301" y="1129"/>
                    <a:pt x="6113" y="910"/>
                  </a:cubicBezTo>
                  <a:cubicBezTo>
                    <a:pt x="5941" y="690"/>
                    <a:pt x="5706" y="502"/>
                    <a:pt x="5471" y="361"/>
                  </a:cubicBezTo>
                  <a:cubicBezTo>
                    <a:pt x="5220" y="220"/>
                    <a:pt x="4938" y="110"/>
                    <a:pt x="4671" y="63"/>
                  </a:cubicBezTo>
                  <a:cubicBezTo>
                    <a:pt x="4530" y="32"/>
                    <a:pt x="4389" y="16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9"/>
            <p:cNvSpPr/>
            <p:nvPr/>
          </p:nvSpPr>
          <p:spPr>
            <a:xfrm>
              <a:off x="2856800" y="2774225"/>
              <a:ext cx="135200" cy="117075"/>
            </a:xfrm>
            <a:custGeom>
              <a:avLst/>
              <a:gdLst/>
              <a:ahLst/>
              <a:cxnLst/>
              <a:rect l="l" t="t" r="r" b="b"/>
              <a:pathLst>
                <a:path w="5408" h="4683" extrusionOk="0">
                  <a:moveTo>
                    <a:pt x="1317" y="0"/>
                  </a:moveTo>
                  <a:lnTo>
                    <a:pt x="1207" y="47"/>
                  </a:lnTo>
                  <a:cubicBezTo>
                    <a:pt x="1254" y="204"/>
                    <a:pt x="1286" y="376"/>
                    <a:pt x="1301" y="533"/>
                  </a:cubicBezTo>
                  <a:cubicBezTo>
                    <a:pt x="1333" y="690"/>
                    <a:pt x="1333" y="862"/>
                    <a:pt x="1317" y="1019"/>
                  </a:cubicBezTo>
                  <a:cubicBezTo>
                    <a:pt x="1317" y="1176"/>
                    <a:pt x="1270" y="1333"/>
                    <a:pt x="1207" y="1442"/>
                  </a:cubicBezTo>
                  <a:cubicBezTo>
                    <a:pt x="1129" y="1568"/>
                    <a:pt x="1035" y="1662"/>
                    <a:pt x="909" y="1724"/>
                  </a:cubicBezTo>
                  <a:lnTo>
                    <a:pt x="862" y="1740"/>
                  </a:lnTo>
                  <a:lnTo>
                    <a:pt x="831" y="1787"/>
                  </a:lnTo>
                  <a:cubicBezTo>
                    <a:pt x="643" y="2101"/>
                    <a:pt x="455" y="2414"/>
                    <a:pt x="298" y="2759"/>
                  </a:cubicBezTo>
                  <a:cubicBezTo>
                    <a:pt x="235" y="2931"/>
                    <a:pt x="157" y="3104"/>
                    <a:pt x="110" y="3292"/>
                  </a:cubicBezTo>
                  <a:cubicBezTo>
                    <a:pt x="47" y="3480"/>
                    <a:pt x="0" y="3668"/>
                    <a:pt x="0" y="3887"/>
                  </a:cubicBezTo>
                  <a:cubicBezTo>
                    <a:pt x="0" y="3997"/>
                    <a:pt x="16" y="4107"/>
                    <a:pt x="47" y="4217"/>
                  </a:cubicBezTo>
                  <a:cubicBezTo>
                    <a:pt x="94" y="4342"/>
                    <a:pt x="173" y="4467"/>
                    <a:pt x="298" y="4546"/>
                  </a:cubicBezTo>
                  <a:cubicBezTo>
                    <a:pt x="408" y="4624"/>
                    <a:pt x="517" y="4655"/>
                    <a:pt x="643" y="4671"/>
                  </a:cubicBezTo>
                  <a:cubicBezTo>
                    <a:pt x="698" y="4679"/>
                    <a:pt x="753" y="4683"/>
                    <a:pt x="805" y="4683"/>
                  </a:cubicBezTo>
                  <a:cubicBezTo>
                    <a:pt x="858" y="4683"/>
                    <a:pt x="909" y="4679"/>
                    <a:pt x="956" y="4671"/>
                  </a:cubicBezTo>
                  <a:cubicBezTo>
                    <a:pt x="1364" y="4624"/>
                    <a:pt x="1709" y="4483"/>
                    <a:pt x="2054" y="4326"/>
                  </a:cubicBezTo>
                  <a:lnTo>
                    <a:pt x="2101" y="4311"/>
                  </a:lnTo>
                  <a:lnTo>
                    <a:pt x="2116" y="4279"/>
                  </a:lnTo>
                  <a:cubicBezTo>
                    <a:pt x="2351" y="4044"/>
                    <a:pt x="2586" y="3809"/>
                    <a:pt x="2837" y="3590"/>
                  </a:cubicBezTo>
                  <a:cubicBezTo>
                    <a:pt x="3088" y="3355"/>
                    <a:pt x="3339" y="3151"/>
                    <a:pt x="3605" y="2947"/>
                  </a:cubicBezTo>
                  <a:cubicBezTo>
                    <a:pt x="3872" y="2759"/>
                    <a:pt x="4154" y="2571"/>
                    <a:pt x="4452" y="2445"/>
                  </a:cubicBezTo>
                  <a:cubicBezTo>
                    <a:pt x="4608" y="2398"/>
                    <a:pt x="4750" y="2351"/>
                    <a:pt x="4906" y="2336"/>
                  </a:cubicBezTo>
                  <a:cubicBezTo>
                    <a:pt x="5063" y="2336"/>
                    <a:pt x="5220" y="2367"/>
                    <a:pt x="5361" y="2477"/>
                  </a:cubicBezTo>
                  <a:lnTo>
                    <a:pt x="5408" y="2398"/>
                  </a:lnTo>
                  <a:cubicBezTo>
                    <a:pt x="5282" y="2273"/>
                    <a:pt x="5094" y="2195"/>
                    <a:pt x="4922" y="2179"/>
                  </a:cubicBezTo>
                  <a:cubicBezTo>
                    <a:pt x="4889" y="2176"/>
                    <a:pt x="4855" y="2175"/>
                    <a:pt x="4822" y="2175"/>
                  </a:cubicBezTo>
                  <a:cubicBezTo>
                    <a:pt x="4668" y="2175"/>
                    <a:pt x="4518" y="2203"/>
                    <a:pt x="4389" y="2242"/>
                  </a:cubicBezTo>
                  <a:cubicBezTo>
                    <a:pt x="4044" y="2351"/>
                    <a:pt x="3731" y="2508"/>
                    <a:pt x="3433" y="2696"/>
                  </a:cubicBezTo>
                  <a:cubicBezTo>
                    <a:pt x="3135" y="2884"/>
                    <a:pt x="2853" y="3088"/>
                    <a:pt x="2586" y="3307"/>
                  </a:cubicBezTo>
                  <a:cubicBezTo>
                    <a:pt x="2344" y="3520"/>
                    <a:pt x="2086" y="3732"/>
                    <a:pt x="1842" y="3973"/>
                  </a:cubicBezTo>
                  <a:lnTo>
                    <a:pt x="1842" y="3973"/>
                  </a:lnTo>
                  <a:cubicBezTo>
                    <a:pt x="1531" y="4105"/>
                    <a:pt x="1220" y="4218"/>
                    <a:pt x="909" y="4248"/>
                  </a:cubicBezTo>
                  <a:cubicBezTo>
                    <a:pt x="870" y="4252"/>
                    <a:pt x="832" y="4254"/>
                    <a:pt x="795" y="4254"/>
                  </a:cubicBezTo>
                  <a:cubicBezTo>
                    <a:pt x="686" y="4254"/>
                    <a:pt x="592" y="4236"/>
                    <a:pt x="533" y="4201"/>
                  </a:cubicBezTo>
                  <a:cubicBezTo>
                    <a:pt x="502" y="4170"/>
                    <a:pt x="470" y="4138"/>
                    <a:pt x="455" y="4076"/>
                  </a:cubicBezTo>
                  <a:cubicBezTo>
                    <a:pt x="423" y="4029"/>
                    <a:pt x="423" y="3966"/>
                    <a:pt x="423" y="3887"/>
                  </a:cubicBezTo>
                  <a:cubicBezTo>
                    <a:pt x="423" y="3574"/>
                    <a:pt x="533" y="3229"/>
                    <a:pt x="659" y="2916"/>
                  </a:cubicBezTo>
                  <a:cubicBezTo>
                    <a:pt x="795" y="2597"/>
                    <a:pt x="946" y="2278"/>
                    <a:pt x="1112" y="1988"/>
                  </a:cubicBezTo>
                  <a:lnTo>
                    <a:pt x="1112" y="1988"/>
                  </a:lnTo>
                  <a:cubicBezTo>
                    <a:pt x="1270" y="1892"/>
                    <a:pt x="1390" y="1750"/>
                    <a:pt x="1474" y="1583"/>
                  </a:cubicBezTo>
                  <a:cubicBezTo>
                    <a:pt x="1552" y="1395"/>
                    <a:pt x="1583" y="1207"/>
                    <a:pt x="1568" y="1019"/>
                  </a:cubicBezTo>
                  <a:cubicBezTo>
                    <a:pt x="1568" y="847"/>
                    <a:pt x="1536" y="659"/>
                    <a:pt x="1505" y="502"/>
                  </a:cubicBezTo>
                  <a:cubicBezTo>
                    <a:pt x="1458" y="329"/>
                    <a:pt x="1395" y="157"/>
                    <a:pt x="131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9"/>
            <p:cNvSpPr/>
            <p:nvPr/>
          </p:nvSpPr>
          <p:spPr>
            <a:xfrm>
              <a:off x="2691425" y="4396900"/>
              <a:ext cx="375025" cy="650500"/>
            </a:xfrm>
            <a:custGeom>
              <a:avLst/>
              <a:gdLst/>
              <a:ahLst/>
              <a:cxnLst/>
              <a:rect l="l" t="t" r="r" b="b"/>
              <a:pathLst>
                <a:path w="15001" h="26020" extrusionOk="0">
                  <a:moveTo>
                    <a:pt x="14970" y="1"/>
                  </a:moveTo>
                  <a:cubicBezTo>
                    <a:pt x="12807" y="1443"/>
                    <a:pt x="10863" y="3167"/>
                    <a:pt x="9076" y="5063"/>
                  </a:cubicBezTo>
                  <a:cubicBezTo>
                    <a:pt x="8183" y="6004"/>
                    <a:pt x="7336" y="6991"/>
                    <a:pt x="6537" y="8010"/>
                  </a:cubicBezTo>
                  <a:cubicBezTo>
                    <a:pt x="5753" y="9045"/>
                    <a:pt x="5016" y="10126"/>
                    <a:pt x="4327" y="11223"/>
                  </a:cubicBezTo>
                  <a:cubicBezTo>
                    <a:pt x="3668" y="12336"/>
                    <a:pt x="3041" y="13496"/>
                    <a:pt x="2509" y="14672"/>
                  </a:cubicBezTo>
                  <a:cubicBezTo>
                    <a:pt x="1976" y="15863"/>
                    <a:pt x="1505" y="17086"/>
                    <a:pt x="1129" y="18324"/>
                  </a:cubicBezTo>
                  <a:cubicBezTo>
                    <a:pt x="753" y="19578"/>
                    <a:pt x="471" y="20847"/>
                    <a:pt x="283" y="22133"/>
                  </a:cubicBezTo>
                  <a:cubicBezTo>
                    <a:pt x="95" y="23418"/>
                    <a:pt x="1" y="24719"/>
                    <a:pt x="16" y="26020"/>
                  </a:cubicBezTo>
                  <a:lnTo>
                    <a:pt x="126" y="26020"/>
                  </a:lnTo>
                  <a:cubicBezTo>
                    <a:pt x="142" y="25691"/>
                    <a:pt x="173" y="25377"/>
                    <a:pt x="204" y="25048"/>
                  </a:cubicBezTo>
                  <a:cubicBezTo>
                    <a:pt x="236" y="24735"/>
                    <a:pt x="267" y="24421"/>
                    <a:pt x="314" y="24092"/>
                  </a:cubicBezTo>
                  <a:cubicBezTo>
                    <a:pt x="393" y="23449"/>
                    <a:pt x="487" y="22822"/>
                    <a:pt x="612" y="22195"/>
                  </a:cubicBezTo>
                  <a:cubicBezTo>
                    <a:pt x="863" y="20926"/>
                    <a:pt x="1176" y="19688"/>
                    <a:pt x="1584" y="18481"/>
                  </a:cubicBezTo>
                  <a:cubicBezTo>
                    <a:pt x="1991" y="17258"/>
                    <a:pt x="2462" y="16067"/>
                    <a:pt x="3010" y="14907"/>
                  </a:cubicBezTo>
                  <a:cubicBezTo>
                    <a:pt x="3543" y="13747"/>
                    <a:pt x="4154" y="12618"/>
                    <a:pt x="4813" y="11521"/>
                  </a:cubicBezTo>
                  <a:cubicBezTo>
                    <a:pt x="5487" y="10424"/>
                    <a:pt x="6208" y="9374"/>
                    <a:pt x="6976" y="8339"/>
                  </a:cubicBezTo>
                  <a:cubicBezTo>
                    <a:pt x="7728" y="7305"/>
                    <a:pt x="8559" y="6317"/>
                    <a:pt x="9405" y="5361"/>
                  </a:cubicBezTo>
                  <a:cubicBezTo>
                    <a:pt x="10267" y="4405"/>
                    <a:pt x="11145" y="3480"/>
                    <a:pt x="12086" y="2587"/>
                  </a:cubicBezTo>
                  <a:cubicBezTo>
                    <a:pt x="13010" y="1693"/>
                    <a:pt x="13982" y="847"/>
                    <a:pt x="15001" y="48"/>
                  </a:cubicBezTo>
                  <a:lnTo>
                    <a:pt x="1497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9"/>
            <p:cNvSpPr/>
            <p:nvPr/>
          </p:nvSpPr>
          <p:spPr>
            <a:xfrm>
              <a:off x="2261950" y="4485850"/>
              <a:ext cx="541975" cy="976925"/>
            </a:xfrm>
            <a:custGeom>
              <a:avLst/>
              <a:gdLst/>
              <a:ahLst/>
              <a:cxnLst/>
              <a:rect l="l" t="t" r="r" b="b"/>
              <a:pathLst>
                <a:path w="21679" h="39077" extrusionOk="0">
                  <a:moveTo>
                    <a:pt x="21615" y="1"/>
                  </a:moveTo>
                  <a:cubicBezTo>
                    <a:pt x="20894" y="1740"/>
                    <a:pt x="20158" y="3465"/>
                    <a:pt x="19374" y="5173"/>
                  </a:cubicBezTo>
                  <a:cubicBezTo>
                    <a:pt x="18606" y="6882"/>
                    <a:pt x="17807" y="8590"/>
                    <a:pt x="16976" y="10267"/>
                  </a:cubicBezTo>
                  <a:cubicBezTo>
                    <a:pt x="16145" y="11960"/>
                    <a:pt x="15283" y="13622"/>
                    <a:pt x="14358" y="15252"/>
                  </a:cubicBezTo>
                  <a:cubicBezTo>
                    <a:pt x="13433" y="16882"/>
                    <a:pt x="12462" y="18481"/>
                    <a:pt x="11333" y="19954"/>
                  </a:cubicBezTo>
                  <a:cubicBezTo>
                    <a:pt x="11051" y="20330"/>
                    <a:pt x="10753" y="20691"/>
                    <a:pt x="10455" y="21020"/>
                  </a:cubicBezTo>
                  <a:cubicBezTo>
                    <a:pt x="10299" y="21192"/>
                    <a:pt x="10142" y="21365"/>
                    <a:pt x="9985" y="21537"/>
                  </a:cubicBezTo>
                  <a:cubicBezTo>
                    <a:pt x="9891" y="21616"/>
                    <a:pt x="9813" y="21694"/>
                    <a:pt x="9734" y="21772"/>
                  </a:cubicBezTo>
                  <a:cubicBezTo>
                    <a:pt x="9640" y="21851"/>
                    <a:pt x="9562" y="21929"/>
                    <a:pt x="9468" y="22023"/>
                  </a:cubicBezTo>
                  <a:cubicBezTo>
                    <a:pt x="8794" y="22681"/>
                    <a:pt x="8151" y="23371"/>
                    <a:pt x="7524" y="24092"/>
                  </a:cubicBezTo>
                  <a:cubicBezTo>
                    <a:pt x="6286" y="25518"/>
                    <a:pt x="5126" y="27023"/>
                    <a:pt x="4092" y="28606"/>
                  </a:cubicBezTo>
                  <a:cubicBezTo>
                    <a:pt x="3057" y="30189"/>
                    <a:pt x="2148" y="31851"/>
                    <a:pt x="1411" y="33591"/>
                  </a:cubicBezTo>
                  <a:cubicBezTo>
                    <a:pt x="1051" y="34468"/>
                    <a:pt x="753" y="35362"/>
                    <a:pt x="502" y="36287"/>
                  </a:cubicBezTo>
                  <a:cubicBezTo>
                    <a:pt x="251" y="37196"/>
                    <a:pt x="79" y="38136"/>
                    <a:pt x="1" y="39077"/>
                  </a:cubicBezTo>
                  <a:lnTo>
                    <a:pt x="110" y="39077"/>
                  </a:lnTo>
                  <a:cubicBezTo>
                    <a:pt x="377" y="37227"/>
                    <a:pt x="957" y="35425"/>
                    <a:pt x="1725" y="33732"/>
                  </a:cubicBezTo>
                  <a:cubicBezTo>
                    <a:pt x="2493" y="32023"/>
                    <a:pt x="3449" y="30409"/>
                    <a:pt x="4499" y="28857"/>
                  </a:cubicBezTo>
                  <a:cubicBezTo>
                    <a:pt x="5549" y="27321"/>
                    <a:pt x="6694" y="25848"/>
                    <a:pt x="7947" y="24453"/>
                  </a:cubicBezTo>
                  <a:cubicBezTo>
                    <a:pt x="8559" y="23747"/>
                    <a:pt x="9201" y="23073"/>
                    <a:pt x="9860" y="22415"/>
                  </a:cubicBezTo>
                  <a:cubicBezTo>
                    <a:pt x="9954" y="22337"/>
                    <a:pt x="10032" y="22258"/>
                    <a:pt x="10111" y="22180"/>
                  </a:cubicBezTo>
                  <a:cubicBezTo>
                    <a:pt x="10205" y="22101"/>
                    <a:pt x="10283" y="22007"/>
                    <a:pt x="10377" y="21929"/>
                  </a:cubicBezTo>
                  <a:cubicBezTo>
                    <a:pt x="10549" y="21757"/>
                    <a:pt x="10706" y="21584"/>
                    <a:pt x="10863" y="21412"/>
                  </a:cubicBezTo>
                  <a:cubicBezTo>
                    <a:pt x="11192" y="21051"/>
                    <a:pt x="11490" y="20675"/>
                    <a:pt x="11788" y="20299"/>
                  </a:cubicBezTo>
                  <a:cubicBezTo>
                    <a:pt x="12932" y="18778"/>
                    <a:pt x="13904" y="17164"/>
                    <a:pt x="14829" y="15518"/>
                  </a:cubicBezTo>
                  <a:cubicBezTo>
                    <a:pt x="15738" y="13857"/>
                    <a:pt x="16584" y="12180"/>
                    <a:pt x="17383" y="10471"/>
                  </a:cubicBezTo>
                  <a:cubicBezTo>
                    <a:pt x="18982" y="7054"/>
                    <a:pt x="20409" y="3574"/>
                    <a:pt x="21678" y="32"/>
                  </a:cubicBezTo>
                  <a:lnTo>
                    <a:pt x="2161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9"/>
            <p:cNvSpPr/>
            <p:nvPr/>
          </p:nvSpPr>
          <p:spPr>
            <a:xfrm>
              <a:off x="3622875" y="3374550"/>
              <a:ext cx="410300" cy="1275900"/>
            </a:xfrm>
            <a:custGeom>
              <a:avLst/>
              <a:gdLst/>
              <a:ahLst/>
              <a:cxnLst/>
              <a:rect l="l" t="t" r="r" b="b"/>
              <a:pathLst>
                <a:path w="16412" h="51036" extrusionOk="0">
                  <a:moveTo>
                    <a:pt x="424" y="0"/>
                  </a:moveTo>
                  <a:cubicBezTo>
                    <a:pt x="189" y="1113"/>
                    <a:pt x="95" y="2257"/>
                    <a:pt x="48" y="3386"/>
                  </a:cubicBezTo>
                  <a:cubicBezTo>
                    <a:pt x="1" y="4514"/>
                    <a:pt x="1" y="5659"/>
                    <a:pt x="48" y="6787"/>
                  </a:cubicBezTo>
                  <a:cubicBezTo>
                    <a:pt x="142" y="9060"/>
                    <a:pt x="408" y="11317"/>
                    <a:pt x="769" y="13559"/>
                  </a:cubicBezTo>
                  <a:cubicBezTo>
                    <a:pt x="1521" y="18041"/>
                    <a:pt x="2744" y="22430"/>
                    <a:pt x="4248" y="26709"/>
                  </a:cubicBezTo>
                  <a:cubicBezTo>
                    <a:pt x="5753" y="30988"/>
                    <a:pt x="7556" y="35173"/>
                    <a:pt x="9593" y="39217"/>
                  </a:cubicBezTo>
                  <a:cubicBezTo>
                    <a:pt x="10612" y="41239"/>
                    <a:pt x="11678" y="43246"/>
                    <a:pt x="12791" y="45221"/>
                  </a:cubicBezTo>
                  <a:cubicBezTo>
                    <a:pt x="13919" y="47180"/>
                    <a:pt x="15079" y="49124"/>
                    <a:pt x="16302" y="51036"/>
                  </a:cubicBezTo>
                  <a:lnTo>
                    <a:pt x="16412" y="50973"/>
                  </a:lnTo>
                  <a:cubicBezTo>
                    <a:pt x="15267" y="49014"/>
                    <a:pt x="14154" y="47055"/>
                    <a:pt x="13104" y="45048"/>
                  </a:cubicBezTo>
                  <a:cubicBezTo>
                    <a:pt x="12023" y="43058"/>
                    <a:pt x="10988" y="41051"/>
                    <a:pt x="10016" y="39014"/>
                  </a:cubicBezTo>
                  <a:cubicBezTo>
                    <a:pt x="9045" y="36976"/>
                    <a:pt x="8104" y="34923"/>
                    <a:pt x="7226" y="32838"/>
                  </a:cubicBezTo>
                  <a:cubicBezTo>
                    <a:pt x="6349" y="30753"/>
                    <a:pt x="5534" y="28653"/>
                    <a:pt x="4781" y="26521"/>
                  </a:cubicBezTo>
                  <a:cubicBezTo>
                    <a:pt x="4029" y="24405"/>
                    <a:pt x="3339" y="22242"/>
                    <a:pt x="2744" y="20079"/>
                  </a:cubicBezTo>
                  <a:cubicBezTo>
                    <a:pt x="2132" y="17900"/>
                    <a:pt x="1631" y="15706"/>
                    <a:pt x="1207" y="13480"/>
                  </a:cubicBezTo>
                  <a:cubicBezTo>
                    <a:pt x="800" y="11270"/>
                    <a:pt x="486" y="9029"/>
                    <a:pt x="345" y="6772"/>
                  </a:cubicBezTo>
                  <a:cubicBezTo>
                    <a:pt x="267" y="5643"/>
                    <a:pt x="220" y="4514"/>
                    <a:pt x="236" y="3386"/>
                  </a:cubicBezTo>
                  <a:cubicBezTo>
                    <a:pt x="236" y="2822"/>
                    <a:pt x="251" y="2257"/>
                    <a:pt x="298" y="1709"/>
                  </a:cubicBezTo>
                  <a:cubicBezTo>
                    <a:pt x="330" y="1145"/>
                    <a:pt x="377" y="580"/>
                    <a:pt x="471" y="16"/>
                  </a:cubicBezTo>
                  <a:lnTo>
                    <a:pt x="42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9"/>
            <p:cNvSpPr/>
            <p:nvPr/>
          </p:nvSpPr>
          <p:spPr>
            <a:xfrm>
              <a:off x="1669475" y="2640000"/>
              <a:ext cx="118350" cy="75475"/>
            </a:xfrm>
            <a:custGeom>
              <a:avLst/>
              <a:gdLst/>
              <a:ahLst/>
              <a:cxnLst/>
              <a:rect l="l" t="t" r="r" b="b"/>
              <a:pathLst>
                <a:path w="4734" h="3019" extrusionOk="0">
                  <a:moveTo>
                    <a:pt x="630" y="0"/>
                  </a:moveTo>
                  <a:cubicBezTo>
                    <a:pt x="247" y="0"/>
                    <a:pt x="141" y="228"/>
                    <a:pt x="141" y="228"/>
                  </a:cubicBezTo>
                  <a:cubicBezTo>
                    <a:pt x="0" y="698"/>
                    <a:pt x="2649" y="1560"/>
                    <a:pt x="2649" y="1560"/>
                  </a:cubicBezTo>
                  <a:cubicBezTo>
                    <a:pt x="3260" y="1701"/>
                    <a:pt x="4734" y="3018"/>
                    <a:pt x="4734" y="3018"/>
                  </a:cubicBezTo>
                  <a:cubicBezTo>
                    <a:pt x="2380" y="505"/>
                    <a:pt x="1199" y="0"/>
                    <a:pt x="63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9"/>
            <p:cNvSpPr/>
            <p:nvPr/>
          </p:nvSpPr>
          <p:spPr>
            <a:xfrm>
              <a:off x="1673375" y="2774600"/>
              <a:ext cx="85075" cy="217525"/>
            </a:xfrm>
            <a:custGeom>
              <a:avLst/>
              <a:gdLst/>
              <a:ahLst/>
              <a:cxnLst/>
              <a:rect l="l" t="t" r="r" b="b"/>
              <a:pathLst>
                <a:path w="3403" h="8701" extrusionOk="0">
                  <a:moveTo>
                    <a:pt x="2634" y="1"/>
                  </a:moveTo>
                  <a:lnTo>
                    <a:pt x="2524" y="17"/>
                  </a:lnTo>
                  <a:cubicBezTo>
                    <a:pt x="2524" y="455"/>
                    <a:pt x="2477" y="894"/>
                    <a:pt x="2352" y="1302"/>
                  </a:cubicBezTo>
                  <a:cubicBezTo>
                    <a:pt x="2227" y="1725"/>
                    <a:pt x="2038" y="2101"/>
                    <a:pt x="1756" y="2383"/>
                  </a:cubicBezTo>
                  <a:cubicBezTo>
                    <a:pt x="1694" y="2462"/>
                    <a:pt x="1615" y="2524"/>
                    <a:pt x="1537" y="2587"/>
                  </a:cubicBezTo>
                  <a:cubicBezTo>
                    <a:pt x="1490" y="2618"/>
                    <a:pt x="1474" y="2634"/>
                    <a:pt x="1411" y="2666"/>
                  </a:cubicBezTo>
                  <a:cubicBezTo>
                    <a:pt x="1349" y="2713"/>
                    <a:pt x="1317" y="2760"/>
                    <a:pt x="1270" y="2791"/>
                  </a:cubicBezTo>
                  <a:cubicBezTo>
                    <a:pt x="1082" y="2948"/>
                    <a:pt x="910" y="3120"/>
                    <a:pt x="769" y="3308"/>
                  </a:cubicBezTo>
                  <a:cubicBezTo>
                    <a:pt x="471" y="3684"/>
                    <a:pt x="236" y="4123"/>
                    <a:pt x="110" y="4609"/>
                  </a:cubicBezTo>
                  <a:cubicBezTo>
                    <a:pt x="1" y="5095"/>
                    <a:pt x="48" y="5628"/>
                    <a:pt x="236" y="6083"/>
                  </a:cubicBezTo>
                  <a:cubicBezTo>
                    <a:pt x="424" y="6553"/>
                    <a:pt x="706" y="6945"/>
                    <a:pt x="1051" y="7274"/>
                  </a:cubicBezTo>
                  <a:cubicBezTo>
                    <a:pt x="1725" y="7932"/>
                    <a:pt x="2540" y="8371"/>
                    <a:pt x="3371" y="8700"/>
                  </a:cubicBezTo>
                  <a:lnTo>
                    <a:pt x="3402" y="8653"/>
                  </a:lnTo>
                  <a:cubicBezTo>
                    <a:pt x="2665" y="8136"/>
                    <a:pt x="1929" y="7619"/>
                    <a:pt x="1380" y="6960"/>
                  </a:cubicBezTo>
                  <a:cubicBezTo>
                    <a:pt x="1098" y="6647"/>
                    <a:pt x="863" y="6286"/>
                    <a:pt x="737" y="5910"/>
                  </a:cubicBezTo>
                  <a:cubicBezTo>
                    <a:pt x="596" y="5518"/>
                    <a:pt x="581" y="5126"/>
                    <a:pt x="675" y="4735"/>
                  </a:cubicBezTo>
                  <a:cubicBezTo>
                    <a:pt x="753" y="4343"/>
                    <a:pt x="957" y="3982"/>
                    <a:pt x="1192" y="3653"/>
                  </a:cubicBezTo>
                  <a:cubicBezTo>
                    <a:pt x="1317" y="3481"/>
                    <a:pt x="1458" y="3324"/>
                    <a:pt x="1615" y="3183"/>
                  </a:cubicBezTo>
                  <a:cubicBezTo>
                    <a:pt x="1647" y="3151"/>
                    <a:pt x="1694" y="3104"/>
                    <a:pt x="1709" y="3089"/>
                  </a:cubicBezTo>
                  <a:cubicBezTo>
                    <a:pt x="1756" y="3057"/>
                    <a:pt x="1819" y="3010"/>
                    <a:pt x="1866" y="2963"/>
                  </a:cubicBezTo>
                  <a:cubicBezTo>
                    <a:pt x="1960" y="2885"/>
                    <a:pt x="2038" y="2791"/>
                    <a:pt x="2117" y="2697"/>
                  </a:cubicBezTo>
                  <a:cubicBezTo>
                    <a:pt x="2446" y="2321"/>
                    <a:pt x="2603" y="1850"/>
                    <a:pt x="2681" y="1380"/>
                  </a:cubicBezTo>
                  <a:cubicBezTo>
                    <a:pt x="2744" y="910"/>
                    <a:pt x="2744" y="455"/>
                    <a:pt x="26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9"/>
            <p:cNvSpPr/>
            <p:nvPr/>
          </p:nvSpPr>
          <p:spPr>
            <a:xfrm>
              <a:off x="1698450" y="2987775"/>
              <a:ext cx="228875" cy="326850"/>
            </a:xfrm>
            <a:custGeom>
              <a:avLst/>
              <a:gdLst/>
              <a:ahLst/>
              <a:cxnLst/>
              <a:rect l="l" t="t" r="r" b="b"/>
              <a:pathLst>
                <a:path w="9155" h="13074" extrusionOk="0">
                  <a:moveTo>
                    <a:pt x="2274" y="1"/>
                  </a:moveTo>
                  <a:cubicBezTo>
                    <a:pt x="2054" y="16"/>
                    <a:pt x="1835" y="63"/>
                    <a:pt x="1615" y="142"/>
                  </a:cubicBezTo>
                  <a:cubicBezTo>
                    <a:pt x="1176" y="283"/>
                    <a:pt x="785" y="596"/>
                    <a:pt x="534" y="988"/>
                  </a:cubicBezTo>
                  <a:cubicBezTo>
                    <a:pt x="283" y="1380"/>
                    <a:pt x="158" y="1819"/>
                    <a:pt x="79" y="2242"/>
                  </a:cubicBezTo>
                  <a:cubicBezTo>
                    <a:pt x="17" y="2665"/>
                    <a:pt x="1" y="3104"/>
                    <a:pt x="17" y="3527"/>
                  </a:cubicBezTo>
                  <a:lnTo>
                    <a:pt x="17" y="3543"/>
                  </a:lnTo>
                  <a:cubicBezTo>
                    <a:pt x="48" y="3716"/>
                    <a:pt x="79" y="3841"/>
                    <a:pt x="126" y="3982"/>
                  </a:cubicBezTo>
                  <a:cubicBezTo>
                    <a:pt x="173" y="4107"/>
                    <a:pt x="220" y="4248"/>
                    <a:pt x="283" y="4374"/>
                  </a:cubicBezTo>
                  <a:cubicBezTo>
                    <a:pt x="393" y="4640"/>
                    <a:pt x="534" y="4875"/>
                    <a:pt x="706" y="5111"/>
                  </a:cubicBezTo>
                  <a:cubicBezTo>
                    <a:pt x="1051" y="5565"/>
                    <a:pt x="1490" y="5941"/>
                    <a:pt x="1976" y="6223"/>
                  </a:cubicBezTo>
                  <a:cubicBezTo>
                    <a:pt x="2101" y="6286"/>
                    <a:pt x="2227" y="6349"/>
                    <a:pt x="2352" y="6412"/>
                  </a:cubicBezTo>
                  <a:cubicBezTo>
                    <a:pt x="2493" y="6459"/>
                    <a:pt x="2587" y="6506"/>
                    <a:pt x="2713" y="6553"/>
                  </a:cubicBezTo>
                  <a:cubicBezTo>
                    <a:pt x="2932" y="6662"/>
                    <a:pt x="3151" y="6788"/>
                    <a:pt x="3355" y="6929"/>
                  </a:cubicBezTo>
                  <a:cubicBezTo>
                    <a:pt x="3559" y="7070"/>
                    <a:pt x="3747" y="7227"/>
                    <a:pt x="3857" y="7399"/>
                  </a:cubicBezTo>
                  <a:cubicBezTo>
                    <a:pt x="3920" y="7477"/>
                    <a:pt x="3967" y="7571"/>
                    <a:pt x="3967" y="7650"/>
                  </a:cubicBezTo>
                  <a:cubicBezTo>
                    <a:pt x="3981" y="7722"/>
                    <a:pt x="3969" y="7793"/>
                    <a:pt x="3943" y="7865"/>
                  </a:cubicBezTo>
                  <a:lnTo>
                    <a:pt x="3943" y="7865"/>
                  </a:lnTo>
                  <a:cubicBezTo>
                    <a:pt x="3622" y="8233"/>
                    <a:pt x="3317" y="8616"/>
                    <a:pt x="3026" y="9013"/>
                  </a:cubicBezTo>
                  <a:cubicBezTo>
                    <a:pt x="2744" y="9405"/>
                    <a:pt x="2477" y="9829"/>
                    <a:pt x="2227" y="10252"/>
                  </a:cubicBezTo>
                  <a:cubicBezTo>
                    <a:pt x="1976" y="10691"/>
                    <a:pt x="1756" y="11129"/>
                    <a:pt x="1584" y="11600"/>
                  </a:cubicBezTo>
                  <a:cubicBezTo>
                    <a:pt x="1412" y="12070"/>
                    <a:pt x="1286" y="12572"/>
                    <a:pt x="1286" y="13073"/>
                  </a:cubicBezTo>
                  <a:lnTo>
                    <a:pt x="1396" y="13073"/>
                  </a:lnTo>
                  <a:cubicBezTo>
                    <a:pt x="1427" y="12838"/>
                    <a:pt x="1474" y="12603"/>
                    <a:pt x="1553" y="12368"/>
                  </a:cubicBezTo>
                  <a:cubicBezTo>
                    <a:pt x="1615" y="12133"/>
                    <a:pt x="1709" y="11913"/>
                    <a:pt x="1803" y="11694"/>
                  </a:cubicBezTo>
                  <a:cubicBezTo>
                    <a:pt x="2007" y="11255"/>
                    <a:pt x="2242" y="10832"/>
                    <a:pt x="2509" y="10440"/>
                  </a:cubicBezTo>
                  <a:cubicBezTo>
                    <a:pt x="2775" y="10032"/>
                    <a:pt x="3057" y="9640"/>
                    <a:pt x="3371" y="9264"/>
                  </a:cubicBezTo>
                  <a:cubicBezTo>
                    <a:pt x="3669" y="8888"/>
                    <a:pt x="3982" y="8512"/>
                    <a:pt x="4311" y="8167"/>
                  </a:cubicBezTo>
                  <a:lnTo>
                    <a:pt x="4327" y="8151"/>
                  </a:lnTo>
                  <a:lnTo>
                    <a:pt x="4343" y="8120"/>
                  </a:lnTo>
                  <a:cubicBezTo>
                    <a:pt x="4437" y="7963"/>
                    <a:pt x="4484" y="7775"/>
                    <a:pt x="4452" y="7603"/>
                  </a:cubicBezTo>
                  <a:cubicBezTo>
                    <a:pt x="4437" y="7415"/>
                    <a:pt x="4374" y="7258"/>
                    <a:pt x="4280" y="7117"/>
                  </a:cubicBezTo>
                  <a:cubicBezTo>
                    <a:pt x="4108" y="6850"/>
                    <a:pt x="3888" y="6662"/>
                    <a:pt x="3653" y="6506"/>
                  </a:cubicBezTo>
                  <a:cubicBezTo>
                    <a:pt x="3418" y="6333"/>
                    <a:pt x="3183" y="6208"/>
                    <a:pt x="2948" y="6082"/>
                  </a:cubicBezTo>
                  <a:cubicBezTo>
                    <a:pt x="2822" y="6020"/>
                    <a:pt x="2681" y="5957"/>
                    <a:pt x="2572" y="5910"/>
                  </a:cubicBezTo>
                  <a:cubicBezTo>
                    <a:pt x="2462" y="5863"/>
                    <a:pt x="2352" y="5800"/>
                    <a:pt x="2242" y="5738"/>
                  </a:cubicBezTo>
                  <a:cubicBezTo>
                    <a:pt x="1819" y="5487"/>
                    <a:pt x="1443" y="5173"/>
                    <a:pt x="1161" y="4766"/>
                  </a:cubicBezTo>
                  <a:cubicBezTo>
                    <a:pt x="1020" y="4578"/>
                    <a:pt x="894" y="4358"/>
                    <a:pt x="800" y="4139"/>
                  </a:cubicBezTo>
                  <a:cubicBezTo>
                    <a:pt x="753" y="4029"/>
                    <a:pt x="706" y="3919"/>
                    <a:pt x="659" y="3810"/>
                  </a:cubicBezTo>
                  <a:cubicBezTo>
                    <a:pt x="628" y="3700"/>
                    <a:pt x="597" y="3559"/>
                    <a:pt x="581" y="3465"/>
                  </a:cubicBezTo>
                  <a:lnTo>
                    <a:pt x="581" y="3496"/>
                  </a:lnTo>
                  <a:cubicBezTo>
                    <a:pt x="565" y="3104"/>
                    <a:pt x="565" y="2697"/>
                    <a:pt x="628" y="2321"/>
                  </a:cubicBezTo>
                  <a:cubicBezTo>
                    <a:pt x="691" y="1944"/>
                    <a:pt x="800" y="1584"/>
                    <a:pt x="988" y="1270"/>
                  </a:cubicBezTo>
                  <a:cubicBezTo>
                    <a:pt x="1176" y="973"/>
                    <a:pt x="1443" y="737"/>
                    <a:pt x="1788" y="612"/>
                  </a:cubicBezTo>
                  <a:cubicBezTo>
                    <a:pt x="1945" y="549"/>
                    <a:pt x="2133" y="502"/>
                    <a:pt x="2305" y="487"/>
                  </a:cubicBezTo>
                  <a:lnTo>
                    <a:pt x="2587" y="487"/>
                  </a:lnTo>
                  <a:cubicBezTo>
                    <a:pt x="2644" y="487"/>
                    <a:pt x="2701" y="492"/>
                    <a:pt x="2755" y="500"/>
                  </a:cubicBezTo>
                  <a:lnTo>
                    <a:pt x="2755" y="500"/>
                  </a:lnTo>
                  <a:cubicBezTo>
                    <a:pt x="2792" y="548"/>
                    <a:pt x="2833" y="585"/>
                    <a:pt x="2869" y="612"/>
                  </a:cubicBezTo>
                  <a:cubicBezTo>
                    <a:pt x="2932" y="675"/>
                    <a:pt x="2995" y="722"/>
                    <a:pt x="3073" y="769"/>
                  </a:cubicBezTo>
                  <a:cubicBezTo>
                    <a:pt x="3198" y="847"/>
                    <a:pt x="3340" y="894"/>
                    <a:pt x="3481" y="941"/>
                  </a:cubicBezTo>
                  <a:cubicBezTo>
                    <a:pt x="3747" y="1035"/>
                    <a:pt x="4014" y="1098"/>
                    <a:pt x="4280" y="1161"/>
                  </a:cubicBezTo>
                  <a:cubicBezTo>
                    <a:pt x="4829" y="1270"/>
                    <a:pt x="5362" y="1333"/>
                    <a:pt x="5910" y="1380"/>
                  </a:cubicBezTo>
                  <a:cubicBezTo>
                    <a:pt x="6443" y="1427"/>
                    <a:pt x="6992" y="1458"/>
                    <a:pt x="7525" y="1474"/>
                  </a:cubicBezTo>
                  <a:cubicBezTo>
                    <a:pt x="8073" y="1505"/>
                    <a:pt x="8606" y="1505"/>
                    <a:pt x="9155" y="1505"/>
                  </a:cubicBezTo>
                  <a:lnTo>
                    <a:pt x="9155" y="1443"/>
                  </a:lnTo>
                  <a:cubicBezTo>
                    <a:pt x="8888" y="1411"/>
                    <a:pt x="8622" y="1396"/>
                    <a:pt x="8355" y="1364"/>
                  </a:cubicBezTo>
                  <a:cubicBezTo>
                    <a:pt x="8089" y="1333"/>
                    <a:pt x="7807" y="1317"/>
                    <a:pt x="7540" y="1286"/>
                  </a:cubicBezTo>
                  <a:cubicBezTo>
                    <a:pt x="7007" y="1223"/>
                    <a:pt x="6474" y="1145"/>
                    <a:pt x="5941" y="1067"/>
                  </a:cubicBezTo>
                  <a:cubicBezTo>
                    <a:pt x="5424" y="988"/>
                    <a:pt x="4891" y="894"/>
                    <a:pt x="4374" y="769"/>
                  </a:cubicBezTo>
                  <a:cubicBezTo>
                    <a:pt x="4123" y="706"/>
                    <a:pt x="3872" y="628"/>
                    <a:pt x="3622" y="534"/>
                  </a:cubicBezTo>
                  <a:cubicBezTo>
                    <a:pt x="3512" y="487"/>
                    <a:pt x="3402" y="440"/>
                    <a:pt x="3308" y="377"/>
                  </a:cubicBezTo>
                  <a:cubicBezTo>
                    <a:pt x="3214" y="314"/>
                    <a:pt x="3136" y="236"/>
                    <a:pt x="3120" y="204"/>
                  </a:cubicBezTo>
                  <a:lnTo>
                    <a:pt x="3104" y="95"/>
                  </a:lnTo>
                  <a:lnTo>
                    <a:pt x="2963" y="63"/>
                  </a:lnTo>
                  <a:cubicBezTo>
                    <a:pt x="2838" y="32"/>
                    <a:pt x="2728" y="16"/>
                    <a:pt x="261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9"/>
            <p:cNvSpPr/>
            <p:nvPr/>
          </p:nvSpPr>
          <p:spPr>
            <a:xfrm>
              <a:off x="1717650" y="3130800"/>
              <a:ext cx="1127800" cy="416975"/>
            </a:xfrm>
            <a:custGeom>
              <a:avLst/>
              <a:gdLst/>
              <a:ahLst/>
              <a:cxnLst/>
              <a:rect l="l" t="t" r="r" b="b"/>
              <a:pathLst>
                <a:path w="45112" h="16679" extrusionOk="0">
                  <a:moveTo>
                    <a:pt x="44861" y="1"/>
                  </a:moveTo>
                  <a:cubicBezTo>
                    <a:pt x="44547" y="4217"/>
                    <a:pt x="42134" y="7885"/>
                    <a:pt x="37854" y="10628"/>
                  </a:cubicBezTo>
                  <a:cubicBezTo>
                    <a:pt x="33152" y="13638"/>
                    <a:pt x="26334" y="15534"/>
                    <a:pt x="17619" y="16255"/>
                  </a:cubicBezTo>
                  <a:cubicBezTo>
                    <a:pt x="16357" y="16359"/>
                    <a:pt x="15157" y="16410"/>
                    <a:pt x="14019" y="16410"/>
                  </a:cubicBezTo>
                  <a:cubicBezTo>
                    <a:pt x="8613" y="16410"/>
                    <a:pt x="4642" y="15248"/>
                    <a:pt x="2415" y="12995"/>
                  </a:cubicBezTo>
                  <a:cubicBezTo>
                    <a:pt x="283" y="10832"/>
                    <a:pt x="503" y="8371"/>
                    <a:pt x="503" y="8340"/>
                  </a:cubicBezTo>
                  <a:lnTo>
                    <a:pt x="236" y="8324"/>
                  </a:lnTo>
                  <a:lnTo>
                    <a:pt x="236" y="8324"/>
                  </a:lnTo>
                  <a:cubicBezTo>
                    <a:pt x="236" y="8418"/>
                    <a:pt x="1" y="10910"/>
                    <a:pt x="2227" y="13183"/>
                  </a:cubicBezTo>
                  <a:cubicBezTo>
                    <a:pt x="4515" y="15503"/>
                    <a:pt x="8434" y="16678"/>
                    <a:pt x="13904" y="16678"/>
                  </a:cubicBezTo>
                  <a:cubicBezTo>
                    <a:pt x="15080" y="16678"/>
                    <a:pt x="16334" y="16631"/>
                    <a:pt x="17650" y="16522"/>
                  </a:cubicBezTo>
                  <a:cubicBezTo>
                    <a:pt x="26397" y="15801"/>
                    <a:pt x="33246" y="13888"/>
                    <a:pt x="37996" y="10847"/>
                  </a:cubicBezTo>
                  <a:cubicBezTo>
                    <a:pt x="42337" y="8057"/>
                    <a:pt x="44814" y="4311"/>
                    <a:pt x="45112" y="17"/>
                  </a:cubicBezTo>
                  <a:lnTo>
                    <a:pt x="4486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9"/>
            <p:cNvSpPr/>
            <p:nvPr/>
          </p:nvSpPr>
          <p:spPr>
            <a:xfrm>
              <a:off x="1559750" y="2193875"/>
              <a:ext cx="286850" cy="444400"/>
            </a:xfrm>
            <a:custGeom>
              <a:avLst/>
              <a:gdLst/>
              <a:ahLst/>
              <a:cxnLst/>
              <a:rect l="l" t="t" r="r" b="b"/>
              <a:pathLst>
                <a:path w="11474" h="17776" extrusionOk="0">
                  <a:moveTo>
                    <a:pt x="11254" y="1"/>
                  </a:moveTo>
                  <a:cubicBezTo>
                    <a:pt x="8966" y="3731"/>
                    <a:pt x="6427" y="6693"/>
                    <a:pt x="4389" y="9060"/>
                  </a:cubicBezTo>
                  <a:cubicBezTo>
                    <a:pt x="3057" y="10612"/>
                    <a:pt x="2007" y="11835"/>
                    <a:pt x="1442" y="12806"/>
                  </a:cubicBezTo>
                  <a:cubicBezTo>
                    <a:pt x="0" y="15267"/>
                    <a:pt x="3041" y="17744"/>
                    <a:pt x="3072" y="17775"/>
                  </a:cubicBezTo>
                  <a:lnTo>
                    <a:pt x="3245" y="17571"/>
                  </a:lnTo>
                  <a:cubicBezTo>
                    <a:pt x="3213" y="17540"/>
                    <a:pt x="345" y="15205"/>
                    <a:pt x="1677" y="12932"/>
                  </a:cubicBezTo>
                  <a:cubicBezTo>
                    <a:pt x="2226" y="11991"/>
                    <a:pt x="3260" y="10769"/>
                    <a:pt x="4593" y="9233"/>
                  </a:cubicBezTo>
                  <a:cubicBezTo>
                    <a:pt x="6630" y="6850"/>
                    <a:pt x="9185" y="3888"/>
                    <a:pt x="11474" y="126"/>
                  </a:cubicBezTo>
                  <a:lnTo>
                    <a:pt x="1125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9"/>
            <p:cNvSpPr/>
            <p:nvPr/>
          </p:nvSpPr>
          <p:spPr>
            <a:xfrm>
              <a:off x="1944950" y="1367850"/>
              <a:ext cx="484750" cy="594075"/>
            </a:xfrm>
            <a:custGeom>
              <a:avLst/>
              <a:gdLst/>
              <a:ahLst/>
              <a:cxnLst/>
              <a:rect l="l" t="t" r="r" b="b"/>
              <a:pathLst>
                <a:path w="19390" h="23763" extrusionOk="0">
                  <a:moveTo>
                    <a:pt x="19295" y="0"/>
                  </a:moveTo>
                  <a:cubicBezTo>
                    <a:pt x="11427" y="2586"/>
                    <a:pt x="6599" y="8903"/>
                    <a:pt x="3934" y="13731"/>
                  </a:cubicBezTo>
                  <a:cubicBezTo>
                    <a:pt x="1050" y="18966"/>
                    <a:pt x="0" y="23653"/>
                    <a:pt x="0" y="23700"/>
                  </a:cubicBezTo>
                  <a:lnTo>
                    <a:pt x="251" y="23762"/>
                  </a:lnTo>
                  <a:cubicBezTo>
                    <a:pt x="298" y="23574"/>
                    <a:pt x="4452" y="5157"/>
                    <a:pt x="19389" y="251"/>
                  </a:cubicBezTo>
                  <a:lnTo>
                    <a:pt x="1929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9"/>
            <p:cNvSpPr/>
            <p:nvPr/>
          </p:nvSpPr>
          <p:spPr>
            <a:xfrm>
              <a:off x="2568000" y="3447425"/>
              <a:ext cx="240625" cy="704600"/>
            </a:xfrm>
            <a:custGeom>
              <a:avLst/>
              <a:gdLst/>
              <a:ahLst/>
              <a:cxnLst/>
              <a:rect l="l" t="t" r="r" b="b"/>
              <a:pathLst>
                <a:path w="9625" h="28184" extrusionOk="0">
                  <a:moveTo>
                    <a:pt x="220" y="1"/>
                  </a:moveTo>
                  <a:lnTo>
                    <a:pt x="0" y="142"/>
                  </a:lnTo>
                  <a:cubicBezTo>
                    <a:pt x="94" y="283"/>
                    <a:pt x="9358" y="15017"/>
                    <a:pt x="9311" y="28183"/>
                  </a:cubicBezTo>
                  <a:lnTo>
                    <a:pt x="9562" y="28183"/>
                  </a:lnTo>
                  <a:cubicBezTo>
                    <a:pt x="9624" y="14954"/>
                    <a:pt x="314" y="142"/>
                    <a:pt x="22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2" name="Google Shape;582;p59"/>
          <p:cNvPicPr preferRelativeResize="0"/>
          <p:nvPr/>
        </p:nvPicPr>
        <p:blipFill rotWithShape="1">
          <a:blip r:embed="rId4">
            <a:alphaModFix amt="84000"/>
          </a:blip>
          <a:srcRect/>
          <a:stretch/>
        </p:blipFill>
        <p:spPr>
          <a:xfrm rot="-487120">
            <a:off x="6387117" y="2096067"/>
            <a:ext cx="369555" cy="36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9"/>
          <p:cNvPicPr preferRelativeResize="0"/>
          <p:nvPr/>
        </p:nvPicPr>
        <p:blipFill rotWithShape="1">
          <a:blip r:embed="rId4">
            <a:alphaModFix amt="66000"/>
          </a:blip>
          <a:srcRect/>
          <a:stretch/>
        </p:blipFill>
        <p:spPr>
          <a:xfrm rot="-487117">
            <a:off x="4988572" y="1247720"/>
            <a:ext cx="223202" cy="2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59"/>
          <p:cNvPicPr preferRelativeResize="0"/>
          <p:nvPr/>
        </p:nvPicPr>
        <p:blipFill rotWithShape="1">
          <a:blip r:embed="rId5">
            <a:alphaModFix amt="60000"/>
          </a:blip>
          <a:srcRect/>
          <a:stretch/>
        </p:blipFill>
        <p:spPr>
          <a:xfrm rot="-487117">
            <a:off x="6315305" y="634794"/>
            <a:ext cx="223202" cy="2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9"/>
          <p:cNvPicPr preferRelativeResize="0"/>
          <p:nvPr/>
        </p:nvPicPr>
        <p:blipFill rotWithShape="1">
          <a:blip r:embed="rId6">
            <a:alphaModFix amt="75000"/>
          </a:blip>
          <a:srcRect/>
          <a:stretch/>
        </p:blipFill>
        <p:spPr>
          <a:xfrm rot="-487125">
            <a:off x="6004275" y="2649194"/>
            <a:ext cx="877613" cy="8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9"/>
          <p:cNvSpPr txBox="1">
            <a:spLocks noGrp="1"/>
          </p:cNvSpPr>
          <p:nvPr>
            <p:ph type="ctrTitle"/>
          </p:nvPr>
        </p:nvSpPr>
        <p:spPr>
          <a:xfrm>
            <a:off x="713100" y="993875"/>
            <a:ext cx="4651200" cy="23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0" dirty="0">
                <a:solidFill>
                  <a:schemeClr val="dk2"/>
                </a:solidFill>
              </a:rPr>
              <a:t>HEALTHCARE AND WELLNESS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587" name="Google Shape;587;p59"/>
          <p:cNvSpPr txBox="1">
            <a:spLocks noGrp="1"/>
          </p:cNvSpPr>
          <p:nvPr>
            <p:ph type="subTitle" idx="1"/>
          </p:nvPr>
        </p:nvSpPr>
        <p:spPr>
          <a:xfrm>
            <a:off x="969581" y="4017858"/>
            <a:ext cx="46512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100" b="1" dirty="0"/>
              <a:t>Participant Details:</a:t>
            </a:r>
            <a:endParaRPr lang="en-IN" sz="1100" dirty="0"/>
          </a:p>
          <a:p>
            <a:r>
              <a:rPr lang="en-US" sz="1100" b="1" dirty="0"/>
              <a:t>Team Name:</a:t>
            </a:r>
            <a:r>
              <a:rPr lang="en-US" sz="1100" dirty="0"/>
              <a:t> Pheonix Minds </a:t>
            </a:r>
            <a:endParaRPr lang="en-IN" sz="1100" dirty="0"/>
          </a:p>
          <a:p>
            <a:r>
              <a:rPr lang="en-US" sz="1100" b="1" dirty="0"/>
              <a:t>Team Leader Name: </a:t>
            </a:r>
            <a:r>
              <a:rPr lang="en-US" sz="1100" dirty="0"/>
              <a:t>Toshan Ranade </a:t>
            </a:r>
            <a:endParaRPr lang="en-IN" sz="1100" dirty="0"/>
          </a:p>
          <a:p>
            <a:r>
              <a:rPr lang="en-US" sz="1100" b="1" dirty="0"/>
              <a:t>Email ID:</a:t>
            </a:r>
            <a:r>
              <a:rPr lang="en-US" sz="1100" dirty="0"/>
              <a:t> </a:t>
            </a:r>
            <a:r>
              <a:rPr lang="en-US" sz="1100" u="sng" dirty="0">
                <a:hlinkClick r:id="rId7"/>
              </a:rPr>
              <a:t>20250802675@dypiu.ac.in</a:t>
            </a:r>
            <a:endParaRPr lang="en-IN" sz="1100" dirty="0"/>
          </a:p>
          <a:p>
            <a:r>
              <a:rPr lang="en-US" sz="1100" b="1" dirty="0"/>
              <a:t>Contact No.: 9691011733 , 7888054002</a:t>
            </a:r>
            <a:endParaRPr lang="en-IN" sz="1100" dirty="0"/>
          </a:p>
          <a:p>
            <a:r>
              <a:rPr lang="en-US" sz="1100" b="1" dirty="0"/>
              <a:t>College:</a:t>
            </a:r>
            <a:r>
              <a:rPr lang="en-US" sz="1100" dirty="0"/>
              <a:t> D. Y. Patil International University </a:t>
            </a:r>
            <a:endParaRPr lang="en-IN" sz="1100" dirty="0"/>
          </a:p>
          <a:p>
            <a:r>
              <a:rPr lang="en-US" sz="1100" b="1" dirty="0"/>
              <a:t>Team Size:</a:t>
            </a:r>
            <a:r>
              <a:rPr lang="en-US" sz="1100" dirty="0"/>
              <a:t> 5</a:t>
            </a:r>
            <a:endParaRPr lang="en-IN" sz="1100" dirty="0"/>
          </a:p>
          <a:p>
            <a:r>
              <a:rPr lang="en-US" sz="1100" b="1" dirty="0"/>
              <a:t>Team Member Names:</a:t>
            </a:r>
            <a:r>
              <a:rPr lang="en-US" sz="1100" dirty="0"/>
              <a:t> Krushna Patil, Shalini Arora, Khyati Singh, Shubhi Bhardwaj</a:t>
            </a:r>
            <a:endParaRPr lang="en-IN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IN" dirty="0"/>
              <a:t>THE CORE VISION</a:t>
            </a:r>
            <a:endParaRPr dirty="0"/>
          </a:p>
        </p:txBody>
      </p:sp>
      <p:sp>
        <p:nvSpPr>
          <p:cNvPr id="593" name="Google Shape;593;p60">
            <a:hlinkClick r:id="rId3" action="ppaction://hlinksldjump"/>
          </p:cNvPr>
          <p:cNvSpPr/>
          <p:nvPr/>
        </p:nvSpPr>
        <p:spPr>
          <a:xfrm>
            <a:off x="4459398" y="134651"/>
            <a:ext cx="225209" cy="207616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60">
            <a:hlinkClick r:id="" action="ppaction://hlinkshowjump?jump=nextslide"/>
          </p:cNvPr>
          <p:cNvSpPr/>
          <p:nvPr/>
        </p:nvSpPr>
        <p:spPr>
          <a:xfrm>
            <a:off x="4868757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60">
            <a:hlinkClick r:id="" action="ppaction://hlinkshowjump?jump=nextslide"/>
          </p:cNvPr>
          <p:cNvSpPr/>
          <p:nvPr/>
        </p:nvSpPr>
        <p:spPr>
          <a:xfrm flipH="1">
            <a:off x="4107432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60"/>
          <p:cNvSpPr txBox="1"/>
          <p:nvPr/>
        </p:nvSpPr>
        <p:spPr>
          <a:xfrm>
            <a:off x="720000" y="1215750"/>
            <a:ext cx="7704000" cy="3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/>
              <a:t>The Village Protocol is a holistic healthcare ecosystem designed to restore the "support village" through a hybrid of advanced AI and human empathy. We address the biological, environmental, and social factors that impact </a:t>
            </a:r>
            <a:r>
              <a:rPr lang="en-US" sz="1200" b="1" dirty="0"/>
              <a:t>Students, Elders, and Women</a:t>
            </a:r>
            <a:r>
              <a:rPr lang="en-US" sz="1200" dirty="0"/>
              <a:t>, ensuring the health of the current generation and protecting the genetic integrity of the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1D18-0EBC-19D2-274D-3EC8F29A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AUDIENCES: THE THREE PILLARS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14040-4A5E-721D-E786-AD9FAACF2FA1}"/>
              </a:ext>
            </a:extLst>
          </p:cNvPr>
          <p:cNvSpPr txBox="1"/>
          <p:nvPr/>
        </p:nvSpPr>
        <p:spPr>
          <a:xfrm>
            <a:off x="1055649" y="1370552"/>
            <a:ext cx="52782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Women (Maternal &amp; Intergenerational Health)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Postpartum Depression (PPD) and environmental stressors that cause epigenetic damage.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Goal:</a:t>
            </a:r>
            <a:r>
              <a:rPr lang="en-US" dirty="0"/>
              <a:t> Reducing maternal cortisol and toxin exposure to prevent the rise of genetic diseases in future generations.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Support:</a:t>
            </a:r>
            <a:r>
              <a:rPr lang="en-US" dirty="0"/>
              <a:t> Daily AI check-ins and physical assistance through vetted </a:t>
            </a:r>
            <a:r>
              <a:rPr lang="en-US" b="1" dirty="0"/>
              <a:t>Midwives and Maternity Maids</a:t>
            </a:r>
            <a:r>
              <a:rPr lang="en-US" dirty="0"/>
              <a:t>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8D6CBE2-CF60-0D76-F2F3-DB6EDBEB7A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17CCF29-C2C3-55E6-2A15-43625FD0F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AF789C7A-1F98-E787-78E6-C38A5E2007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4A9F7E81-E2B6-AC2C-1356-3FF3327D34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2876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06460F-389F-F160-21C0-C420917E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737" y="1240333"/>
            <a:ext cx="2936488" cy="235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5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F9869-2EDC-F931-4125-4CDE38B02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263" y="-167002"/>
            <a:ext cx="4814400" cy="3388200"/>
          </a:xfrm>
        </p:spPr>
        <p:txBody>
          <a:bodyPr/>
          <a:lstStyle/>
          <a:p>
            <a:r>
              <a:rPr lang="en-US" b="1" dirty="0"/>
              <a:t>Students (Mental Health &amp; Discretion)</a:t>
            </a:r>
          </a:p>
          <a:p>
            <a:r>
              <a:rPr lang="en-US" b="1" dirty="0"/>
              <a:t>Problem:</a:t>
            </a:r>
            <a:r>
              <a:rPr lang="en-US" dirty="0"/>
              <a:t> High stress and depression coupled with a fear of social stigma or institutional records.</a:t>
            </a:r>
          </a:p>
          <a:p>
            <a:r>
              <a:rPr lang="en-US" b="1" dirty="0"/>
              <a:t>The Goal:</a:t>
            </a:r>
            <a:r>
              <a:rPr lang="en-US" dirty="0"/>
              <a:t> Providing a </a:t>
            </a:r>
            <a:r>
              <a:rPr lang="en-US" b="1" dirty="0"/>
              <a:t>"Silent Care"</a:t>
            </a:r>
            <a:r>
              <a:rPr lang="en-US" dirty="0"/>
              <a:t> model for those who wish to keep their struggles private.</a:t>
            </a:r>
          </a:p>
          <a:p>
            <a:r>
              <a:rPr lang="en-US" b="1" dirty="0"/>
              <a:t>Support:</a:t>
            </a:r>
            <a:r>
              <a:rPr lang="en-US" dirty="0"/>
              <a:t> Discreet home visits in unmarked vehicles and encrypted, anonymous-first AI consultations.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1D195-6D60-036E-AF3C-997BCB15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63" y="495292"/>
            <a:ext cx="3859786" cy="320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9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B6D43-37E1-FDD5-5FCB-D524CDABB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8326"/>
            <a:ext cx="4814400" cy="3388200"/>
          </a:xfrm>
        </p:spPr>
        <p:txBody>
          <a:bodyPr/>
          <a:lstStyle/>
          <a:p>
            <a:r>
              <a:rPr lang="en-US" b="1" dirty="0"/>
              <a:t>Elders (Longevity &amp; Chronic Care)</a:t>
            </a:r>
          </a:p>
          <a:p>
            <a:r>
              <a:rPr lang="en-US" b="1" dirty="0"/>
              <a:t>Problem:</a:t>
            </a:r>
            <a:r>
              <a:rPr lang="en-US" dirty="0"/>
              <a:t> Mobility issues and the danger of isolation.</a:t>
            </a:r>
          </a:p>
          <a:p>
            <a:r>
              <a:rPr lang="en-US" b="1" dirty="0"/>
              <a:t>The Goal:</a:t>
            </a:r>
            <a:r>
              <a:rPr lang="en-US" dirty="0"/>
              <a:t> Moving professional medical care from the hospital to the living room.</a:t>
            </a:r>
          </a:p>
          <a:p>
            <a:r>
              <a:rPr lang="en-US" b="1" dirty="0"/>
              <a:t>Support:</a:t>
            </a:r>
            <a:r>
              <a:rPr lang="en-US" dirty="0"/>
              <a:t> Regular home-visit check-ups and AI-monitored safety protocols.</a:t>
            </a:r>
          </a:p>
          <a:p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190AF3B-A8B7-E6CF-6214-6B0FF16D16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532AA-B7AA-412E-2995-4AD03160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786" y="1500836"/>
            <a:ext cx="2891882" cy="284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8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3"/>
          <p:cNvSpPr txBox="1">
            <a:spLocks noGrp="1"/>
          </p:cNvSpPr>
          <p:nvPr>
            <p:ph type="title"/>
          </p:nvPr>
        </p:nvSpPr>
        <p:spPr>
          <a:xfrm>
            <a:off x="2568445" y="521336"/>
            <a:ext cx="637106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/>
              <a:t>THE TECHNOLOGY SOLUTION: "SIDE-BY-SIDE" AI</a:t>
            </a:r>
            <a:endParaRPr sz="3600" dirty="0"/>
          </a:p>
        </p:txBody>
      </p:sp>
      <p:sp>
        <p:nvSpPr>
          <p:cNvPr id="662" name="Google Shape;662;p63"/>
          <p:cNvSpPr txBox="1">
            <a:spLocks noGrp="1"/>
          </p:cNvSpPr>
          <p:nvPr>
            <p:ph type="subTitle" idx="1"/>
          </p:nvPr>
        </p:nvSpPr>
        <p:spPr>
          <a:xfrm>
            <a:off x="3601598" y="2984711"/>
            <a:ext cx="5174669" cy="5921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400" dirty="0"/>
              <a:t>Our proprietary AI bridge ensures that no patient is ever alone during a medical event.</a:t>
            </a:r>
          </a:p>
          <a:p>
            <a:pPr algn="l"/>
            <a:r>
              <a:rPr lang="en-US" sz="1400" b="1" dirty="0"/>
              <a:t>The Emergency SOS:</a:t>
            </a:r>
            <a:r>
              <a:rPr lang="en-US" sz="1400" dirty="0"/>
              <a:t> A one-touch trigger that pings the nearest vetted doctor via GPS, bypassing standard waiting queues.</a:t>
            </a:r>
          </a:p>
          <a:p>
            <a:pPr algn="l"/>
            <a:r>
              <a:rPr lang="en-US" sz="1400" b="1" dirty="0"/>
              <a:t>The Life-Bridge (First Aid):</a:t>
            </a:r>
            <a:r>
              <a:rPr lang="en-US" sz="1400" dirty="0"/>
              <a:t> While the doctor is connecting, the AI provides </a:t>
            </a:r>
            <a:r>
              <a:rPr lang="en-US" sz="1400" b="1" dirty="0"/>
              <a:t>Voice-Guided First Aid</a:t>
            </a:r>
            <a:r>
              <a:rPr lang="en-US" sz="1400" dirty="0"/>
              <a:t> and visual loops (GIFs) to the patient or family (e.g., managing a hemorrhage, a fall, or a panic attack).</a:t>
            </a:r>
          </a:p>
          <a:p>
            <a:pPr algn="l"/>
            <a:r>
              <a:rPr lang="en-US" sz="1400" b="1" dirty="0"/>
              <a:t>Synchronous Consultation:</a:t>
            </a:r>
            <a:r>
              <a:rPr lang="en-US" sz="1400" dirty="0"/>
              <a:t> Once the doctor joins, the AI stays "side-by-side," providing real-time transcription, medical history summaries, and live translation.</a:t>
            </a:r>
          </a:p>
          <a:p>
            <a:pPr algn="l"/>
            <a:r>
              <a:rPr lang="en-US" sz="1400" b="1" dirty="0"/>
              <a:t>Guardian Mode:</a:t>
            </a:r>
            <a:r>
              <a:rPr lang="en-US" sz="1400" dirty="0"/>
              <a:t> Monitors environmental toxins/air quality and sends proactive alerts to protect fetal gene expression.</a:t>
            </a:r>
          </a:p>
        </p:txBody>
      </p:sp>
      <p:grpSp>
        <p:nvGrpSpPr>
          <p:cNvPr id="663" name="Google Shape;663;p63"/>
          <p:cNvGrpSpPr/>
          <p:nvPr/>
        </p:nvGrpSpPr>
        <p:grpSpPr>
          <a:xfrm flipH="1">
            <a:off x="48267" y="1347692"/>
            <a:ext cx="3047485" cy="4814387"/>
            <a:chOff x="1559166" y="1445635"/>
            <a:chExt cx="2474009" cy="3908417"/>
          </a:xfrm>
        </p:grpSpPr>
        <p:sp>
          <p:nvSpPr>
            <p:cNvPr id="664" name="Google Shape;664;p63"/>
            <p:cNvSpPr/>
            <p:nvPr/>
          </p:nvSpPr>
          <p:spPr>
            <a:xfrm>
              <a:off x="2691425" y="4288177"/>
              <a:ext cx="375025" cy="650500"/>
            </a:xfrm>
            <a:custGeom>
              <a:avLst/>
              <a:gdLst/>
              <a:ahLst/>
              <a:cxnLst/>
              <a:rect l="l" t="t" r="r" b="b"/>
              <a:pathLst>
                <a:path w="15001" h="26020" extrusionOk="0">
                  <a:moveTo>
                    <a:pt x="14970" y="1"/>
                  </a:moveTo>
                  <a:cubicBezTo>
                    <a:pt x="12807" y="1443"/>
                    <a:pt x="10863" y="3167"/>
                    <a:pt x="9076" y="5063"/>
                  </a:cubicBezTo>
                  <a:cubicBezTo>
                    <a:pt x="8183" y="6004"/>
                    <a:pt x="7336" y="6991"/>
                    <a:pt x="6537" y="8010"/>
                  </a:cubicBezTo>
                  <a:cubicBezTo>
                    <a:pt x="5753" y="9045"/>
                    <a:pt x="5016" y="10126"/>
                    <a:pt x="4327" y="11223"/>
                  </a:cubicBezTo>
                  <a:cubicBezTo>
                    <a:pt x="3668" y="12336"/>
                    <a:pt x="3041" y="13496"/>
                    <a:pt x="2509" y="14672"/>
                  </a:cubicBezTo>
                  <a:cubicBezTo>
                    <a:pt x="1976" y="15863"/>
                    <a:pt x="1505" y="17086"/>
                    <a:pt x="1129" y="18324"/>
                  </a:cubicBezTo>
                  <a:cubicBezTo>
                    <a:pt x="753" y="19578"/>
                    <a:pt x="471" y="20847"/>
                    <a:pt x="283" y="22133"/>
                  </a:cubicBezTo>
                  <a:cubicBezTo>
                    <a:pt x="95" y="23418"/>
                    <a:pt x="1" y="24719"/>
                    <a:pt x="16" y="26020"/>
                  </a:cubicBezTo>
                  <a:lnTo>
                    <a:pt x="126" y="26020"/>
                  </a:lnTo>
                  <a:cubicBezTo>
                    <a:pt x="142" y="25691"/>
                    <a:pt x="173" y="25377"/>
                    <a:pt x="204" y="25048"/>
                  </a:cubicBezTo>
                  <a:cubicBezTo>
                    <a:pt x="236" y="24735"/>
                    <a:pt x="267" y="24421"/>
                    <a:pt x="314" y="24092"/>
                  </a:cubicBezTo>
                  <a:cubicBezTo>
                    <a:pt x="393" y="23449"/>
                    <a:pt x="487" y="22822"/>
                    <a:pt x="612" y="22195"/>
                  </a:cubicBezTo>
                  <a:cubicBezTo>
                    <a:pt x="863" y="20926"/>
                    <a:pt x="1176" y="19688"/>
                    <a:pt x="1584" y="18481"/>
                  </a:cubicBezTo>
                  <a:cubicBezTo>
                    <a:pt x="1991" y="17258"/>
                    <a:pt x="2462" y="16067"/>
                    <a:pt x="3010" y="14907"/>
                  </a:cubicBezTo>
                  <a:cubicBezTo>
                    <a:pt x="3543" y="13747"/>
                    <a:pt x="4154" y="12618"/>
                    <a:pt x="4813" y="11521"/>
                  </a:cubicBezTo>
                  <a:cubicBezTo>
                    <a:pt x="5487" y="10424"/>
                    <a:pt x="6208" y="9374"/>
                    <a:pt x="6976" y="8339"/>
                  </a:cubicBezTo>
                  <a:cubicBezTo>
                    <a:pt x="7728" y="7305"/>
                    <a:pt x="8559" y="6317"/>
                    <a:pt x="9405" y="5361"/>
                  </a:cubicBezTo>
                  <a:cubicBezTo>
                    <a:pt x="10267" y="4405"/>
                    <a:pt x="11145" y="3480"/>
                    <a:pt x="12086" y="2587"/>
                  </a:cubicBezTo>
                  <a:cubicBezTo>
                    <a:pt x="13010" y="1693"/>
                    <a:pt x="13982" y="847"/>
                    <a:pt x="15001" y="48"/>
                  </a:cubicBezTo>
                  <a:lnTo>
                    <a:pt x="1497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3"/>
            <p:cNvSpPr/>
            <p:nvPr/>
          </p:nvSpPr>
          <p:spPr>
            <a:xfrm>
              <a:off x="2261950" y="4377127"/>
              <a:ext cx="541975" cy="976925"/>
            </a:xfrm>
            <a:custGeom>
              <a:avLst/>
              <a:gdLst/>
              <a:ahLst/>
              <a:cxnLst/>
              <a:rect l="l" t="t" r="r" b="b"/>
              <a:pathLst>
                <a:path w="21679" h="39077" extrusionOk="0">
                  <a:moveTo>
                    <a:pt x="21615" y="1"/>
                  </a:moveTo>
                  <a:cubicBezTo>
                    <a:pt x="20894" y="1740"/>
                    <a:pt x="20158" y="3465"/>
                    <a:pt x="19374" y="5173"/>
                  </a:cubicBezTo>
                  <a:cubicBezTo>
                    <a:pt x="18606" y="6882"/>
                    <a:pt x="17807" y="8590"/>
                    <a:pt x="16976" y="10267"/>
                  </a:cubicBezTo>
                  <a:cubicBezTo>
                    <a:pt x="16145" y="11960"/>
                    <a:pt x="15283" y="13622"/>
                    <a:pt x="14358" y="15252"/>
                  </a:cubicBezTo>
                  <a:cubicBezTo>
                    <a:pt x="13433" y="16882"/>
                    <a:pt x="12462" y="18481"/>
                    <a:pt x="11333" y="19954"/>
                  </a:cubicBezTo>
                  <a:cubicBezTo>
                    <a:pt x="11051" y="20330"/>
                    <a:pt x="10753" y="20691"/>
                    <a:pt x="10455" y="21020"/>
                  </a:cubicBezTo>
                  <a:cubicBezTo>
                    <a:pt x="10299" y="21192"/>
                    <a:pt x="10142" y="21365"/>
                    <a:pt x="9985" y="21537"/>
                  </a:cubicBezTo>
                  <a:cubicBezTo>
                    <a:pt x="9891" y="21616"/>
                    <a:pt x="9813" y="21694"/>
                    <a:pt x="9734" y="21772"/>
                  </a:cubicBezTo>
                  <a:cubicBezTo>
                    <a:pt x="9640" y="21851"/>
                    <a:pt x="9562" y="21929"/>
                    <a:pt x="9468" y="22023"/>
                  </a:cubicBezTo>
                  <a:cubicBezTo>
                    <a:pt x="8794" y="22681"/>
                    <a:pt x="8151" y="23371"/>
                    <a:pt x="7524" y="24092"/>
                  </a:cubicBezTo>
                  <a:cubicBezTo>
                    <a:pt x="6286" y="25518"/>
                    <a:pt x="5126" y="27023"/>
                    <a:pt x="4092" y="28606"/>
                  </a:cubicBezTo>
                  <a:cubicBezTo>
                    <a:pt x="3057" y="30189"/>
                    <a:pt x="2148" y="31851"/>
                    <a:pt x="1411" y="33591"/>
                  </a:cubicBezTo>
                  <a:cubicBezTo>
                    <a:pt x="1051" y="34468"/>
                    <a:pt x="753" y="35362"/>
                    <a:pt x="502" y="36287"/>
                  </a:cubicBezTo>
                  <a:cubicBezTo>
                    <a:pt x="251" y="37196"/>
                    <a:pt x="79" y="38136"/>
                    <a:pt x="1" y="39077"/>
                  </a:cubicBezTo>
                  <a:lnTo>
                    <a:pt x="110" y="39077"/>
                  </a:lnTo>
                  <a:cubicBezTo>
                    <a:pt x="377" y="37227"/>
                    <a:pt x="957" y="35425"/>
                    <a:pt x="1725" y="33732"/>
                  </a:cubicBezTo>
                  <a:cubicBezTo>
                    <a:pt x="2493" y="32023"/>
                    <a:pt x="3449" y="30409"/>
                    <a:pt x="4499" y="28857"/>
                  </a:cubicBezTo>
                  <a:cubicBezTo>
                    <a:pt x="5549" y="27321"/>
                    <a:pt x="6694" y="25848"/>
                    <a:pt x="7947" y="24453"/>
                  </a:cubicBezTo>
                  <a:cubicBezTo>
                    <a:pt x="8559" y="23747"/>
                    <a:pt x="9201" y="23073"/>
                    <a:pt x="9860" y="22415"/>
                  </a:cubicBezTo>
                  <a:cubicBezTo>
                    <a:pt x="9954" y="22337"/>
                    <a:pt x="10032" y="22258"/>
                    <a:pt x="10111" y="22180"/>
                  </a:cubicBezTo>
                  <a:cubicBezTo>
                    <a:pt x="10205" y="22101"/>
                    <a:pt x="10283" y="22007"/>
                    <a:pt x="10377" y="21929"/>
                  </a:cubicBezTo>
                  <a:cubicBezTo>
                    <a:pt x="10549" y="21757"/>
                    <a:pt x="10706" y="21584"/>
                    <a:pt x="10863" y="21412"/>
                  </a:cubicBezTo>
                  <a:cubicBezTo>
                    <a:pt x="11192" y="21051"/>
                    <a:pt x="11490" y="20675"/>
                    <a:pt x="11788" y="20299"/>
                  </a:cubicBezTo>
                  <a:cubicBezTo>
                    <a:pt x="12932" y="18778"/>
                    <a:pt x="13904" y="17164"/>
                    <a:pt x="14829" y="15518"/>
                  </a:cubicBezTo>
                  <a:cubicBezTo>
                    <a:pt x="15738" y="13857"/>
                    <a:pt x="16584" y="12180"/>
                    <a:pt x="17383" y="10471"/>
                  </a:cubicBezTo>
                  <a:cubicBezTo>
                    <a:pt x="18982" y="7054"/>
                    <a:pt x="20409" y="3574"/>
                    <a:pt x="21678" y="32"/>
                  </a:cubicBezTo>
                  <a:lnTo>
                    <a:pt x="2161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3"/>
            <p:cNvSpPr/>
            <p:nvPr/>
          </p:nvSpPr>
          <p:spPr>
            <a:xfrm>
              <a:off x="3622875" y="3374550"/>
              <a:ext cx="410300" cy="1275900"/>
            </a:xfrm>
            <a:custGeom>
              <a:avLst/>
              <a:gdLst/>
              <a:ahLst/>
              <a:cxnLst/>
              <a:rect l="l" t="t" r="r" b="b"/>
              <a:pathLst>
                <a:path w="16412" h="51036" extrusionOk="0">
                  <a:moveTo>
                    <a:pt x="424" y="0"/>
                  </a:moveTo>
                  <a:cubicBezTo>
                    <a:pt x="189" y="1113"/>
                    <a:pt x="95" y="2257"/>
                    <a:pt x="48" y="3386"/>
                  </a:cubicBezTo>
                  <a:cubicBezTo>
                    <a:pt x="1" y="4514"/>
                    <a:pt x="1" y="5659"/>
                    <a:pt x="48" y="6787"/>
                  </a:cubicBezTo>
                  <a:cubicBezTo>
                    <a:pt x="142" y="9060"/>
                    <a:pt x="408" y="11317"/>
                    <a:pt x="769" y="13559"/>
                  </a:cubicBezTo>
                  <a:cubicBezTo>
                    <a:pt x="1521" y="18041"/>
                    <a:pt x="2744" y="22430"/>
                    <a:pt x="4248" y="26709"/>
                  </a:cubicBezTo>
                  <a:cubicBezTo>
                    <a:pt x="5753" y="30988"/>
                    <a:pt x="7556" y="35173"/>
                    <a:pt x="9593" y="39217"/>
                  </a:cubicBezTo>
                  <a:cubicBezTo>
                    <a:pt x="10612" y="41239"/>
                    <a:pt x="11678" y="43246"/>
                    <a:pt x="12791" y="45221"/>
                  </a:cubicBezTo>
                  <a:cubicBezTo>
                    <a:pt x="13919" y="47180"/>
                    <a:pt x="15079" y="49124"/>
                    <a:pt x="16302" y="51036"/>
                  </a:cubicBezTo>
                  <a:lnTo>
                    <a:pt x="16412" y="50973"/>
                  </a:lnTo>
                  <a:cubicBezTo>
                    <a:pt x="15267" y="49014"/>
                    <a:pt x="14154" y="47055"/>
                    <a:pt x="13104" y="45048"/>
                  </a:cubicBezTo>
                  <a:cubicBezTo>
                    <a:pt x="12023" y="43058"/>
                    <a:pt x="10988" y="41051"/>
                    <a:pt x="10016" y="39014"/>
                  </a:cubicBezTo>
                  <a:cubicBezTo>
                    <a:pt x="9045" y="36976"/>
                    <a:pt x="8104" y="34923"/>
                    <a:pt x="7226" y="32838"/>
                  </a:cubicBezTo>
                  <a:cubicBezTo>
                    <a:pt x="6349" y="30753"/>
                    <a:pt x="5534" y="28653"/>
                    <a:pt x="4781" y="26521"/>
                  </a:cubicBezTo>
                  <a:cubicBezTo>
                    <a:pt x="4029" y="24405"/>
                    <a:pt x="3339" y="22242"/>
                    <a:pt x="2744" y="20079"/>
                  </a:cubicBezTo>
                  <a:cubicBezTo>
                    <a:pt x="2132" y="17900"/>
                    <a:pt x="1631" y="15706"/>
                    <a:pt x="1207" y="13480"/>
                  </a:cubicBezTo>
                  <a:cubicBezTo>
                    <a:pt x="800" y="11270"/>
                    <a:pt x="486" y="9029"/>
                    <a:pt x="345" y="6772"/>
                  </a:cubicBezTo>
                  <a:cubicBezTo>
                    <a:pt x="267" y="5643"/>
                    <a:pt x="220" y="4514"/>
                    <a:pt x="236" y="3386"/>
                  </a:cubicBezTo>
                  <a:cubicBezTo>
                    <a:pt x="236" y="2822"/>
                    <a:pt x="251" y="2257"/>
                    <a:pt x="298" y="1709"/>
                  </a:cubicBezTo>
                  <a:cubicBezTo>
                    <a:pt x="330" y="1145"/>
                    <a:pt x="377" y="580"/>
                    <a:pt x="471" y="16"/>
                  </a:cubicBezTo>
                  <a:lnTo>
                    <a:pt x="42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3"/>
            <p:cNvSpPr/>
            <p:nvPr/>
          </p:nvSpPr>
          <p:spPr>
            <a:xfrm>
              <a:off x="1673375" y="2774600"/>
              <a:ext cx="85075" cy="217525"/>
            </a:xfrm>
            <a:custGeom>
              <a:avLst/>
              <a:gdLst/>
              <a:ahLst/>
              <a:cxnLst/>
              <a:rect l="l" t="t" r="r" b="b"/>
              <a:pathLst>
                <a:path w="3403" h="8701" extrusionOk="0">
                  <a:moveTo>
                    <a:pt x="2634" y="1"/>
                  </a:moveTo>
                  <a:lnTo>
                    <a:pt x="2524" y="17"/>
                  </a:lnTo>
                  <a:cubicBezTo>
                    <a:pt x="2524" y="455"/>
                    <a:pt x="2477" y="894"/>
                    <a:pt x="2352" y="1302"/>
                  </a:cubicBezTo>
                  <a:cubicBezTo>
                    <a:pt x="2227" y="1725"/>
                    <a:pt x="2038" y="2101"/>
                    <a:pt x="1756" y="2383"/>
                  </a:cubicBezTo>
                  <a:cubicBezTo>
                    <a:pt x="1694" y="2462"/>
                    <a:pt x="1615" y="2524"/>
                    <a:pt x="1537" y="2587"/>
                  </a:cubicBezTo>
                  <a:cubicBezTo>
                    <a:pt x="1490" y="2618"/>
                    <a:pt x="1474" y="2634"/>
                    <a:pt x="1411" y="2666"/>
                  </a:cubicBezTo>
                  <a:cubicBezTo>
                    <a:pt x="1349" y="2713"/>
                    <a:pt x="1317" y="2760"/>
                    <a:pt x="1270" y="2791"/>
                  </a:cubicBezTo>
                  <a:cubicBezTo>
                    <a:pt x="1082" y="2948"/>
                    <a:pt x="910" y="3120"/>
                    <a:pt x="769" y="3308"/>
                  </a:cubicBezTo>
                  <a:cubicBezTo>
                    <a:pt x="471" y="3684"/>
                    <a:pt x="236" y="4123"/>
                    <a:pt x="110" y="4609"/>
                  </a:cubicBezTo>
                  <a:cubicBezTo>
                    <a:pt x="1" y="5095"/>
                    <a:pt x="48" y="5628"/>
                    <a:pt x="236" y="6083"/>
                  </a:cubicBezTo>
                  <a:cubicBezTo>
                    <a:pt x="424" y="6553"/>
                    <a:pt x="706" y="6945"/>
                    <a:pt x="1051" y="7274"/>
                  </a:cubicBezTo>
                  <a:cubicBezTo>
                    <a:pt x="1725" y="7932"/>
                    <a:pt x="2540" y="8371"/>
                    <a:pt x="3371" y="8700"/>
                  </a:cubicBezTo>
                  <a:lnTo>
                    <a:pt x="3402" y="8653"/>
                  </a:lnTo>
                  <a:cubicBezTo>
                    <a:pt x="2665" y="8136"/>
                    <a:pt x="1929" y="7619"/>
                    <a:pt x="1380" y="6960"/>
                  </a:cubicBezTo>
                  <a:cubicBezTo>
                    <a:pt x="1098" y="6647"/>
                    <a:pt x="863" y="6286"/>
                    <a:pt x="737" y="5910"/>
                  </a:cubicBezTo>
                  <a:cubicBezTo>
                    <a:pt x="596" y="5518"/>
                    <a:pt x="581" y="5126"/>
                    <a:pt x="675" y="4735"/>
                  </a:cubicBezTo>
                  <a:cubicBezTo>
                    <a:pt x="753" y="4343"/>
                    <a:pt x="957" y="3982"/>
                    <a:pt x="1192" y="3653"/>
                  </a:cubicBezTo>
                  <a:cubicBezTo>
                    <a:pt x="1317" y="3481"/>
                    <a:pt x="1458" y="3324"/>
                    <a:pt x="1615" y="3183"/>
                  </a:cubicBezTo>
                  <a:cubicBezTo>
                    <a:pt x="1647" y="3151"/>
                    <a:pt x="1694" y="3104"/>
                    <a:pt x="1709" y="3089"/>
                  </a:cubicBezTo>
                  <a:cubicBezTo>
                    <a:pt x="1756" y="3057"/>
                    <a:pt x="1819" y="3010"/>
                    <a:pt x="1866" y="2963"/>
                  </a:cubicBezTo>
                  <a:cubicBezTo>
                    <a:pt x="1960" y="2885"/>
                    <a:pt x="2038" y="2791"/>
                    <a:pt x="2117" y="2697"/>
                  </a:cubicBezTo>
                  <a:cubicBezTo>
                    <a:pt x="2446" y="2321"/>
                    <a:pt x="2603" y="1850"/>
                    <a:pt x="2681" y="1380"/>
                  </a:cubicBezTo>
                  <a:cubicBezTo>
                    <a:pt x="2744" y="910"/>
                    <a:pt x="2744" y="455"/>
                    <a:pt x="26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3"/>
            <p:cNvSpPr/>
            <p:nvPr/>
          </p:nvSpPr>
          <p:spPr>
            <a:xfrm>
              <a:off x="1698450" y="2987775"/>
              <a:ext cx="228875" cy="326850"/>
            </a:xfrm>
            <a:custGeom>
              <a:avLst/>
              <a:gdLst/>
              <a:ahLst/>
              <a:cxnLst/>
              <a:rect l="l" t="t" r="r" b="b"/>
              <a:pathLst>
                <a:path w="9155" h="13074" extrusionOk="0">
                  <a:moveTo>
                    <a:pt x="2274" y="1"/>
                  </a:moveTo>
                  <a:cubicBezTo>
                    <a:pt x="2054" y="16"/>
                    <a:pt x="1835" y="63"/>
                    <a:pt x="1615" y="142"/>
                  </a:cubicBezTo>
                  <a:cubicBezTo>
                    <a:pt x="1176" y="283"/>
                    <a:pt x="785" y="596"/>
                    <a:pt x="534" y="988"/>
                  </a:cubicBezTo>
                  <a:cubicBezTo>
                    <a:pt x="283" y="1380"/>
                    <a:pt x="158" y="1819"/>
                    <a:pt x="79" y="2242"/>
                  </a:cubicBezTo>
                  <a:cubicBezTo>
                    <a:pt x="17" y="2665"/>
                    <a:pt x="1" y="3104"/>
                    <a:pt x="17" y="3527"/>
                  </a:cubicBezTo>
                  <a:lnTo>
                    <a:pt x="17" y="3543"/>
                  </a:lnTo>
                  <a:cubicBezTo>
                    <a:pt x="48" y="3716"/>
                    <a:pt x="79" y="3841"/>
                    <a:pt x="126" y="3982"/>
                  </a:cubicBezTo>
                  <a:cubicBezTo>
                    <a:pt x="173" y="4107"/>
                    <a:pt x="220" y="4248"/>
                    <a:pt x="283" y="4374"/>
                  </a:cubicBezTo>
                  <a:cubicBezTo>
                    <a:pt x="393" y="4640"/>
                    <a:pt x="534" y="4875"/>
                    <a:pt x="706" y="5111"/>
                  </a:cubicBezTo>
                  <a:cubicBezTo>
                    <a:pt x="1051" y="5565"/>
                    <a:pt x="1490" y="5941"/>
                    <a:pt x="1976" y="6223"/>
                  </a:cubicBezTo>
                  <a:cubicBezTo>
                    <a:pt x="2101" y="6286"/>
                    <a:pt x="2227" y="6349"/>
                    <a:pt x="2352" y="6412"/>
                  </a:cubicBezTo>
                  <a:cubicBezTo>
                    <a:pt x="2493" y="6459"/>
                    <a:pt x="2587" y="6506"/>
                    <a:pt x="2713" y="6553"/>
                  </a:cubicBezTo>
                  <a:cubicBezTo>
                    <a:pt x="2932" y="6662"/>
                    <a:pt x="3151" y="6788"/>
                    <a:pt x="3355" y="6929"/>
                  </a:cubicBezTo>
                  <a:cubicBezTo>
                    <a:pt x="3559" y="7070"/>
                    <a:pt x="3747" y="7227"/>
                    <a:pt x="3857" y="7399"/>
                  </a:cubicBezTo>
                  <a:cubicBezTo>
                    <a:pt x="3920" y="7477"/>
                    <a:pt x="3967" y="7571"/>
                    <a:pt x="3967" y="7650"/>
                  </a:cubicBezTo>
                  <a:cubicBezTo>
                    <a:pt x="3981" y="7722"/>
                    <a:pt x="3969" y="7793"/>
                    <a:pt x="3943" y="7865"/>
                  </a:cubicBezTo>
                  <a:lnTo>
                    <a:pt x="3943" y="7865"/>
                  </a:lnTo>
                  <a:cubicBezTo>
                    <a:pt x="3622" y="8233"/>
                    <a:pt x="3317" y="8616"/>
                    <a:pt x="3026" y="9013"/>
                  </a:cubicBezTo>
                  <a:cubicBezTo>
                    <a:pt x="2744" y="9405"/>
                    <a:pt x="2477" y="9829"/>
                    <a:pt x="2227" y="10252"/>
                  </a:cubicBezTo>
                  <a:cubicBezTo>
                    <a:pt x="1976" y="10691"/>
                    <a:pt x="1756" y="11129"/>
                    <a:pt x="1584" y="11600"/>
                  </a:cubicBezTo>
                  <a:cubicBezTo>
                    <a:pt x="1412" y="12070"/>
                    <a:pt x="1286" y="12572"/>
                    <a:pt x="1286" y="13073"/>
                  </a:cubicBezTo>
                  <a:lnTo>
                    <a:pt x="1396" y="13073"/>
                  </a:lnTo>
                  <a:cubicBezTo>
                    <a:pt x="1427" y="12838"/>
                    <a:pt x="1474" y="12603"/>
                    <a:pt x="1553" y="12368"/>
                  </a:cubicBezTo>
                  <a:cubicBezTo>
                    <a:pt x="1615" y="12133"/>
                    <a:pt x="1709" y="11913"/>
                    <a:pt x="1803" y="11694"/>
                  </a:cubicBezTo>
                  <a:cubicBezTo>
                    <a:pt x="2007" y="11255"/>
                    <a:pt x="2242" y="10832"/>
                    <a:pt x="2509" y="10440"/>
                  </a:cubicBezTo>
                  <a:cubicBezTo>
                    <a:pt x="2775" y="10032"/>
                    <a:pt x="3057" y="9640"/>
                    <a:pt x="3371" y="9264"/>
                  </a:cubicBezTo>
                  <a:cubicBezTo>
                    <a:pt x="3669" y="8888"/>
                    <a:pt x="3982" y="8512"/>
                    <a:pt x="4311" y="8167"/>
                  </a:cubicBezTo>
                  <a:lnTo>
                    <a:pt x="4327" y="8151"/>
                  </a:lnTo>
                  <a:lnTo>
                    <a:pt x="4343" y="8120"/>
                  </a:lnTo>
                  <a:cubicBezTo>
                    <a:pt x="4437" y="7963"/>
                    <a:pt x="4484" y="7775"/>
                    <a:pt x="4452" y="7603"/>
                  </a:cubicBezTo>
                  <a:cubicBezTo>
                    <a:pt x="4437" y="7415"/>
                    <a:pt x="4374" y="7258"/>
                    <a:pt x="4280" y="7117"/>
                  </a:cubicBezTo>
                  <a:cubicBezTo>
                    <a:pt x="4108" y="6850"/>
                    <a:pt x="3888" y="6662"/>
                    <a:pt x="3653" y="6506"/>
                  </a:cubicBezTo>
                  <a:cubicBezTo>
                    <a:pt x="3418" y="6333"/>
                    <a:pt x="3183" y="6208"/>
                    <a:pt x="2948" y="6082"/>
                  </a:cubicBezTo>
                  <a:cubicBezTo>
                    <a:pt x="2822" y="6020"/>
                    <a:pt x="2681" y="5957"/>
                    <a:pt x="2572" y="5910"/>
                  </a:cubicBezTo>
                  <a:cubicBezTo>
                    <a:pt x="2462" y="5863"/>
                    <a:pt x="2352" y="5800"/>
                    <a:pt x="2242" y="5738"/>
                  </a:cubicBezTo>
                  <a:cubicBezTo>
                    <a:pt x="1819" y="5487"/>
                    <a:pt x="1443" y="5173"/>
                    <a:pt x="1161" y="4766"/>
                  </a:cubicBezTo>
                  <a:cubicBezTo>
                    <a:pt x="1020" y="4578"/>
                    <a:pt x="894" y="4358"/>
                    <a:pt x="800" y="4139"/>
                  </a:cubicBezTo>
                  <a:cubicBezTo>
                    <a:pt x="753" y="4029"/>
                    <a:pt x="706" y="3919"/>
                    <a:pt x="659" y="3810"/>
                  </a:cubicBezTo>
                  <a:cubicBezTo>
                    <a:pt x="628" y="3700"/>
                    <a:pt x="597" y="3559"/>
                    <a:pt x="581" y="3465"/>
                  </a:cubicBezTo>
                  <a:lnTo>
                    <a:pt x="581" y="3496"/>
                  </a:lnTo>
                  <a:cubicBezTo>
                    <a:pt x="565" y="3104"/>
                    <a:pt x="565" y="2697"/>
                    <a:pt x="628" y="2321"/>
                  </a:cubicBezTo>
                  <a:cubicBezTo>
                    <a:pt x="691" y="1944"/>
                    <a:pt x="800" y="1584"/>
                    <a:pt x="988" y="1270"/>
                  </a:cubicBezTo>
                  <a:cubicBezTo>
                    <a:pt x="1176" y="973"/>
                    <a:pt x="1443" y="737"/>
                    <a:pt x="1788" y="612"/>
                  </a:cubicBezTo>
                  <a:cubicBezTo>
                    <a:pt x="1945" y="549"/>
                    <a:pt x="2133" y="502"/>
                    <a:pt x="2305" y="487"/>
                  </a:cubicBezTo>
                  <a:lnTo>
                    <a:pt x="2587" y="487"/>
                  </a:lnTo>
                  <a:cubicBezTo>
                    <a:pt x="2644" y="487"/>
                    <a:pt x="2701" y="492"/>
                    <a:pt x="2755" y="500"/>
                  </a:cubicBezTo>
                  <a:lnTo>
                    <a:pt x="2755" y="500"/>
                  </a:lnTo>
                  <a:cubicBezTo>
                    <a:pt x="2792" y="548"/>
                    <a:pt x="2833" y="585"/>
                    <a:pt x="2869" y="612"/>
                  </a:cubicBezTo>
                  <a:cubicBezTo>
                    <a:pt x="2932" y="675"/>
                    <a:pt x="2995" y="722"/>
                    <a:pt x="3073" y="769"/>
                  </a:cubicBezTo>
                  <a:cubicBezTo>
                    <a:pt x="3198" y="847"/>
                    <a:pt x="3340" y="894"/>
                    <a:pt x="3481" y="941"/>
                  </a:cubicBezTo>
                  <a:cubicBezTo>
                    <a:pt x="3747" y="1035"/>
                    <a:pt x="4014" y="1098"/>
                    <a:pt x="4280" y="1161"/>
                  </a:cubicBezTo>
                  <a:cubicBezTo>
                    <a:pt x="4829" y="1270"/>
                    <a:pt x="5362" y="1333"/>
                    <a:pt x="5910" y="1380"/>
                  </a:cubicBezTo>
                  <a:cubicBezTo>
                    <a:pt x="6443" y="1427"/>
                    <a:pt x="6992" y="1458"/>
                    <a:pt x="7525" y="1474"/>
                  </a:cubicBezTo>
                  <a:cubicBezTo>
                    <a:pt x="8073" y="1505"/>
                    <a:pt x="8606" y="1505"/>
                    <a:pt x="9155" y="1505"/>
                  </a:cubicBezTo>
                  <a:lnTo>
                    <a:pt x="9155" y="1443"/>
                  </a:lnTo>
                  <a:cubicBezTo>
                    <a:pt x="8888" y="1411"/>
                    <a:pt x="8622" y="1396"/>
                    <a:pt x="8355" y="1364"/>
                  </a:cubicBezTo>
                  <a:cubicBezTo>
                    <a:pt x="8089" y="1333"/>
                    <a:pt x="7807" y="1317"/>
                    <a:pt x="7540" y="1286"/>
                  </a:cubicBezTo>
                  <a:cubicBezTo>
                    <a:pt x="7007" y="1223"/>
                    <a:pt x="6474" y="1145"/>
                    <a:pt x="5941" y="1067"/>
                  </a:cubicBezTo>
                  <a:cubicBezTo>
                    <a:pt x="5424" y="988"/>
                    <a:pt x="4891" y="894"/>
                    <a:pt x="4374" y="769"/>
                  </a:cubicBezTo>
                  <a:cubicBezTo>
                    <a:pt x="4123" y="706"/>
                    <a:pt x="3872" y="628"/>
                    <a:pt x="3622" y="534"/>
                  </a:cubicBezTo>
                  <a:cubicBezTo>
                    <a:pt x="3512" y="487"/>
                    <a:pt x="3402" y="440"/>
                    <a:pt x="3308" y="377"/>
                  </a:cubicBezTo>
                  <a:cubicBezTo>
                    <a:pt x="3214" y="314"/>
                    <a:pt x="3136" y="236"/>
                    <a:pt x="3120" y="204"/>
                  </a:cubicBezTo>
                  <a:lnTo>
                    <a:pt x="3104" y="95"/>
                  </a:lnTo>
                  <a:lnTo>
                    <a:pt x="2963" y="63"/>
                  </a:lnTo>
                  <a:cubicBezTo>
                    <a:pt x="2838" y="32"/>
                    <a:pt x="2728" y="16"/>
                    <a:pt x="261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3"/>
            <p:cNvSpPr/>
            <p:nvPr/>
          </p:nvSpPr>
          <p:spPr>
            <a:xfrm>
              <a:off x="1717650" y="3130800"/>
              <a:ext cx="1127800" cy="416975"/>
            </a:xfrm>
            <a:custGeom>
              <a:avLst/>
              <a:gdLst/>
              <a:ahLst/>
              <a:cxnLst/>
              <a:rect l="l" t="t" r="r" b="b"/>
              <a:pathLst>
                <a:path w="45112" h="16679" extrusionOk="0">
                  <a:moveTo>
                    <a:pt x="44861" y="1"/>
                  </a:moveTo>
                  <a:cubicBezTo>
                    <a:pt x="44547" y="4217"/>
                    <a:pt x="42134" y="7885"/>
                    <a:pt x="37854" y="10628"/>
                  </a:cubicBezTo>
                  <a:cubicBezTo>
                    <a:pt x="33152" y="13638"/>
                    <a:pt x="26334" y="15534"/>
                    <a:pt x="17619" y="16255"/>
                  </a:cubicBezTo>
                  <a:cubicBezTo>
                    <a:pt x="16357" y="16359"/>
                    <a:pt x="15157" y="16410"/>
                    <a:pt x="14019" y="16410"/>
                  </a:cubicBezTo>
                  <a:cubicBezTo>
                    <a:pt x="8613" y="16410"/>
                    <a:pt x="4642" y="15248"/>
                    <a:pt x="2415" y="12995"/>
                  </a:cubicBezTo>
                  <a:cubicBezTo>
                    <a:pt x="283" y="10832"/>
                    <a:pt x="503" y="8371"/>
                    <a:pt x="503" y="8340"/>
                  </a:cubicBezTo>
                  <a:lnTo>
                    <a:pt x="236" y="8324"/>
                  </a:lnTo>
                  <a:lnTo>
                    <a:pt x="236" y="8324"/>
                  </a:lnTo>
                  <a:cubicBezTo>
                    <a:pt x="236" y="8418"/>
                    <a:pt x="1" y="10910"/>
                    <a:pt x="2227" y="13183"/>
                  </a:cubicBezTo>
                  <a:cubicBezTo>
                    <a:pt x="4515" y="15503"/>
                    <a:pt x="8434" y="16678"/>
                    <a:pt x="13904" y="16678"/>
                  </a:cubicBezTo>
                  <a:cubicBezTo>
                    <a:pt x="15080" y="16678"/>
                    <a:pt x="16334" y="16631"/>
                    <a:pt x="17650" y="16522"/>
                  </a:cubicBezTo>
                  <a:cubicBezTo>
                    <a:pt x="26397" y="15801"/>
                    <a:pt x="33246" y="13888"/>
                    <a:pt x="37996" y="10847"/>
                  </a:cubicBezTo>
                  <a:cubicBezTo>
                    <a:pt x="42337" y="8057"/>
                    <a:pt x="44814" y="4311"/>
                    <a:pt x="45112" y="17"/>
                  </a:cubicBezTo>
                  <a:lnTo>
                    <a:pt x="4486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3"/>
            <p:cNvSpPr/>
            <p:nvPr/>
          </p:nvSpPr>
          <p:spPr>
            <a:xfrm rot="-839590">
              <a:off x="1608637" y="2217158"/>
              <a:ext cx="286843" cy="444389"/>
            </a:xfrm>
            <a:custGeom>
              <a:avLst/>
              <a:gdLst/>
              <a:ahLst/>
              <a:cxnLst/>
              <a:rect l="l" t="t" r="r" b="b"/>
              <a:pathLst>
                <a:path w="11474" h="17776" extrusionOk="0">
                  <a:moveTo>
                    <a:pt x="11254" y="1"/>
                  </a:moveTo>
                  <a:cubicBezTo>
                    <a:pt x="8966" y="3731"/>
                    <a:pt x="6427" y="6693"/>
                    <a:pt x="4389" y="9060"/>
                  </a:cubicBezTo>
                  <a:cubicBezTo>
                    <a:pt x="3057" y="10612"/>
                    <a:pt x="2007" y="11835"/>
                    <a:pt x="1442" y="12806"/>
                  </a:cubicBezTo>
                  <a:cubicBezTo>
                    <a:pt x="0" y="15267"/>
                    <a:pt x="3041" y="17744"/>
                    <a:pt x="3072" y="17775"/>
                  </a:cubicBezTo>
                  <a:lnTo>
                    <a:pt x="3245" y="17571"/>
                  </a:lnTo>
                  <a:cubicBezTo>
                    <a:pt x="3213" y="17540"/>
                    <a:pt x="345" y="15205"/>
                    <a:pt x="1677" y="12932"/>
                  </a:cubicBezTo>
                  <a:cubicBezTo>
                    <a:pt x="2226" y="11991"/>
                    <a:pt x="3260" y="10769"/>
                    <a:pt x="4593" y="9233"/>
                  </a:cubicBezTo>
                  <a:cubicBezTo>
                    <a:pt x="6630" y="6850"/>
                    <a:pt x="9185" y="3888"/>
                    <a:pt x="11474" y="126"/>
                  </a:cubicBezTo>
                  <a:lnTo>
                    <a:pt x="1125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3"/>
            <p:cNvSpPr/>
            <p:nvPr/>
          </p:nvSpPr>
          <p:spPr>
            <a:xfrm rot="715001">
              <a:off x="1975482" y="1489284"/>
              <a:ext cx="484775" cy="594106"/>
            </a:xfrm>
            <a:custGeom>
              <a:avLst/>
              <a:gdLst/>
              <a:ahLst/>
              <a:cxnLst/>
              <a:rect l="l" t="t" r="r" b="b"/>
              <a:pathLst>
                <a:path w="19390" h="23763" extrusionOk="0">
                  <a:moveTo>
                    <a:pt x="19295" y="0"/>
                  </a:moveTo>
                  <a:cubicBezTo>
                    <a:pt x="11427" y="2586"/>
                    <a:pt x="6599" y="8903"/>
                    <a:pt x="3934" y="13731"/>
                  </a:cubicBezTo>
                  <a:cubicBezTo>
                    <a:pt x="1050" y="18966"/>
                    <a:pt x="0" y="23653"/>
                    <a:pt x="0" y="23700"/>
                  </a:cubicBezTo>
                  <a:lnTo>
                    <a:pt x="251" y="23762"/>
                  </a:lnTo>
                  <a:cubicBezTo>
                    <a:pt x="298" y="23574"/>
                    <a:pt x="4452" y="5157"/>
                    <a:pt x="19389" y="251"/>
                  </a:cubicBezTo>
                  <a:lnTo>
                    <a:pt x="1929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3"/>
            <p:cNvSpPr/>
            <p:nvPr/>
          </p:nvSpPr>
          <p:spPr>
            <a:xfrm>
              <a:off x="2568000" y="3447425"/>
              <a:ext cx="240625" cy="704600"/>
            </a:xfrm>
            <a:custGeom>
              <a:avLst/>
              <a:gdLst/>
              <a:ahLst/>
              <a:cxnLst/>
              <a:rect l="l" t="t" r="r" b="b"/>
              <a:pathLst>
                <a:path w="9625" h="28184" extrusionOk="0">
                  <a:moveTo>
                    <a:pt x="220" y="1"/>
                  </a:moveTo>
                  <a:lnTo>
                    <a:pt x="0" y="142"/>
                  </a:lnTo>
                  <a:cubicBezTo>
                    <a:pt x="94" y="283"/>
                    <a:pt x="9358" y="15017"/>
                    <a:pt x="9311" y="28183"/>
                  </a:cubicBezTo>
                  <a:lnTo>
                    <a:pt x="9562" y="28183"/>
                  </a:lnTo>
                  <a:cubicBezTo>
                    <a:pt x="9624" y="14954"/>
                    <a:pt x="314" y="142"/>
                    <a:pt x="22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73" name="Google Shape;673;p63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 rot="-4516157">
            <a:off x="-35621" y="585476"/>
            <a:ext cx="2506140" cy="250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63"/>
          <p:cNvPicPr preferRelativeResize="0"/>
          <p:nvPr/>
        </p:nvPicPr>
        <p:blipFill rotWithShape="1">
          <a:blip r:embed="rId4">
            <a:alphaModFix amt="75000"/>
          </a:blip>
          <a:srcRect/>
          <a:stretch/>
        </p:blipFill>
        <p:spPr>
          <a:xfrm rot="-487108">
            <a:off x="770444" y="3472066"/>
            <a:ext cx="413344" cy="41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3"/>
          <p:cNvPicPr preferRelativeResize="0"/>
          <p:nvPr/>
        </p:nvPicPr>
        <p:blipFill rotWithShape="1">
          <a:blip r:embed="rId5">
            <a:alphaModFix amt="84000"/>
          </a:blip>
          <a:srcRect/>
          <a:stretch/>
        </p:blipFill>
        <p:spPr>
          <a:xfrm rot="-487123">
            <a:off x="132463" y="2304486"/>
            <a:ext cx="1283301" cy="128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63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 rot="-487117">
            <a:off x="3152180" y="1675731"/>
            <a:ext cx="223202" cy="223203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3">
            <a:hlinkClick r:id="rId7" action="ppaction://hlinksldjump"/>
          </p:cNvPr>
          <p:cNvSpPr/>
          <p:nvPr/>
        </p:nvSpPr>
        <p:spPr>
          <a:xfrm>
            <a:off x="4459398" y="134651"/>
            <a:ext cx="225209" cy="207616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3">
            <a:hlinkClick r:id="" action="ppaction://hlinkshowjump?jump=nextslide"/>
          </p:cNvPr>
          <p:cNvSpPr/>
          <p:nvPr/>
        </p:nvSpPr>
        <p:spPr>
          <a:xfrm>
            <a:off x="4868757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63">
            <a:hlinkClick r:id="" action="ppaction://hlinkshowjump?jump=nextslide"/>
          </p:cNvPr>
          <p:cNvSpPr/>
          <p:nvPr/>
        </p:nvSpPr>
        <p:spPr>
          <a:xfrm flipH="1">
            <a:off x="4107432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64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 rot="-487117">
            <a:off x="7123241" y="4109069"/>
            <a:ext cx="223202" cy="2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4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 rot="-487117">
            <a:off x="1527591" y="733344"/>
            <a:ext cx="223202" cy="223203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4"/>
          <p:cNvSpPr txBox="1">
            <a:spLocks noGrp="1"/>
          </p:cNvSpPr>
          <p:nvPr>
            <p:ph type="title"/>
          </p:nvPr>
        </p:nvSpPr>
        <p:spPr>
          <a:xfrm>
            <a:off x="1447463" y="971190"/>
            <a:ext cx="7010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THE SOCIAL SOLUTION: EMPLOYMENT &amp; VETTING</a:t>
            </a:r>
            <a:endParaRPr dirty="0"/>
          </a:p>
        </p:txBody>
      </p:sp>
      <p:sp>
        <p:nvSpPr>
          <p:cNvPr id="687" name="Google Shape;687;p64"/>
          <p:cNvSpPr txBox="1">
            <a:spLocks noGrp="1"/>
          </p:cNvSpPr>
          <p:nvPr>
            <p:ph type="subTitle" idx="1"/>
          </p:nvPr>
        </p:nvSpPr>
        <p:spPr>
          <a:xfrm>
            <a:off x="1781832" y="3084503"/>
            <a:ext cx="4651200" cy="8418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400" dirty="0"/>
              <a:t>We solve the healthcare crisis by creating jobs for those in "dire need" and experienced professionals.</a:t>
            </a:r>
          </a:p>
          <a:p>
            <a:pPr algn="l"/>
            <a:r>
              <a:rPr lang="en-US" sz="1400" b="1" dirty="0"/>
              <a:t>Qualified Workforce:</a:t>
            </a:r>
            <a:r>
              <a:rPr lang="en-US" sz="1400" dirty="0"/>
              <a:t> We recruit unemployed or underemployed Doctors, Nurses, and Midwives.</a:t>
            </a:r>
          </a:p>
          <a:p>
            <a:pPr algn="l"/>
            <a:r>
              <a:rPr lang="en-US" sz="1400" b="1" dirty="0"/>
              <a:t>The Sentry Vetting Process:</a:t>
            </a:r>
            <a:r>
              <a:rPr lang="en-US" sz="1400" dirty="0"/>
              <a:t> 1. </a:t>
            </a:r>
            <a:r>
              <a:rPr lang="en-US" sz="1400" b="1" dirty="0"/>
              <a:t>Degree Verification:</a:t>
            </a:r>
            <a:r>
              <a:rPr lang="en-US" sz="1400" dirty="0"/>
              <a:t> Authenticating all medical credentials. 2. </a:t>
            </a:r>
            <a:r>
              <a:rPr lang="en-US" sz="1400" b="1" dirty="0"/>
              <a:t>Clinical Audit:</a:t>
            </a:r>
            <a:r>
              <a:rPr lang="en-US" sz="1400" dirty="0"/>
              <a:t> Testing empathy and medical skills. 3. </a:t>
            </a:r>
            <a:r>
              <a:rPr lang="en-US" sz="1400" b="1" dirty="0"/>
              <a:t>Criminal Record Check:</a:t>
            </a:r>
            <a:r>
              <a:rPr lang="en-US" sz="1400" dirty="0"/>
              <a:t> Mandatory 6-month background screening.</a:t>
            </a:r>
          </a:p>
          <a:p>
            <a:pPr algn="l"/>
            <a:r>
              <a:rPr lang="en-US" sz="1400" b="1" dirty="0"/>
              <a:t>Two-Way Accountability:</a:t>
            </a:r>
            <a:r>
              <a:rPr lang="en-US" sz="1400" dirty="0"/>
              <a:t> A symmetrical rating scheme where patients rate the service, and employees rate the home environment for safety.</a:t>
            </a:r>
          </a:p>
        </p:txBody>
      </p:sp>
      <p:sp>
        <p:nvSpPr>
          <p:cNvPr id="688" name="Google Shape;688;p64">
            <a:hlinkClick r:id="rId5" action="ppaction://hlinksldjump"/>
          </p:cNvPr>
          <p:cNvSpPr/>
          <p:nvPr/>
        </p:nvSpPr>
        <p:spPr>
          <a:xfrm>
            <a:off x="4459398" y="134651"/>
            <a:ext cx="225209" cy="207616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64">
            <a:hlinkClick r:id="" action="ppaction://hlinkshowjump?jump=nextslide"/>
          </p:cNvPr>
          <p:cNvSpPr/>
          <p:nvPr/>
        </p:nvSpPr>
        <p:spPr>
          <a:xfrm>
            <a:off x="4868757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64">
            <a:hlinkClick r:id="" action="ppaction://hlinkshowjump?jump=nextslide"/>
          </p:cNvPr>
          <p:cNvSpPr/>
          <p:nvPr/>
        </p:nvSpPr>
        <p:spPr>
          <a:xfrm flipH="1">
            <a:off x="4107432" y="180079"/>
            <a:ext cx="167813" cy="116777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7F81-7235-9726-E6FB-5B9700CE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96" y="302795"/>
            <a:ext cx="5485113" cy="841800"/>
          </a:xfrm>
        </p:spPr>
        <p:txBody>
          <a:bodyPr/>
          <a:lstStyle/>
          <a:p>
            <a:r>
              <a:rPr lang="en-IN" sz="3600" dirty="0"/>
              <a:t>THE FAMILY &amp; COMMUNITY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B431D-8C56-0359-94C0-16744EE18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96" y="2326625"/>
            <a:ext cx="4651200" cy="1168500"/>
          </a:xfrm>
        </p:spPr>
        <p:txBody>
          <a:bodyPr/>
          <a:lstStyle/>
          <a:p>
            <a:r>
              <a:rPr lang="en-US" dirty="0"/>
              <a:t>To save the patient, we must educate the "Village."</a:t>
            </a:r>
          </a:p>
          <a:p>
            <a:r>
              <a:rPr lang="en-US" b="1" dirty="0"/>
              <a:t>The Fatherhood Portal:</a:t>
            </a:r>
            <a:r>
              <a:rPr lang="en-US" dirty="0"/>
              <a:t> Mandatory modules for men to learn the biology of pregnancy (hormonal drops) and practical childcare skills.</a:t>
            </a:r>
          </a:p>
          <a:p>
            <a:r>
              <a:rPr lang="en-US" b="1" dirty="0"/>
              <a:t>Community Preaching:</a:t>
            </a:r>
            <a:r>
              <a:rPr lang="en-US" dirty="0"/>
              <a:t> Programs to dismantle the social stigma of mental health, turning family members into trained "First Responders."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78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F732-CC70-8490-F958-5D839515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478" y="622463"/>
            <a:ext cx="5388468" cy="841800"/>
          </a:xfrm>
        </p:spPr>
        <p:txBody>
          <a:bodyPr/>
          <a:lstStyle/>
          <a:p>
            <a:r>
              <a:rPr lang="en-IN" sz="4000" dirty="0"/>
              <a:t>SAFETY &amp; PRIVACY FRAMEWORK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70BCC3-A358-C1A8-1DA2-1B43F1E60E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2930" y="2156251"/>
            <a:ext cx="86581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Meeting Codes: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unique "digital handshake" required at the door for every home visit.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Incognito Mode: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Unmarked vehicles and civilian clothing for staff to ensure 100% discretion for students and private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Kill-Switch: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permanently delete their sensitive health history with one tap.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Protection: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Wearable panic buttons and "duress codes" to protect healthcare workers in the field.</a:t>
            </a:r>
          </a:p>
        </p:txBody>
      </p:sp>
    </p:spTree>
    <p:extLst>
      <p:ext uri="{BB962C8B-B14F-4D97-AF65-F5344CB8AC3E}">
        <p14:creationId xmlns:p14="http://schemas.microsoft.com/office/powerpoint/2010/main" val="107239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F76B-E9C7-FD50-2379-EC6B824B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20" y="781740"/>
            <a:ext cx="6158460" cy="841800"/>
          </a:xfrm>
        </p:spPr>
        <p:txBody>
          <a:bodyPr/>
          <a:lstStyle/>
          <a:p>
            <a:r>
              <a:rPr lang="en-US" sz="3600" dirty="0"/>
              <a:t>SOLUTION WORKFLOW: HOW IT WORKS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A163E-F6E5-9C29-9EBE-DA8929D06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5824"/>
            <a:ext cx="8878539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0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41D3-C86C-82CC-FF53-A4782E4F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64" y="652200"/>
            <a:ext cx="5626360" cy="841800"/>
          </a:xfrm>
        </p:spPr>
        <p:txBody>
          <a:bodyPr/>
          <a:lstStyle/>
          <a:p>
            <a:r>
              <a:rPr lang="en-IN" dirty="0"/>
              <a:t>COMPARATIVE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87BC4-4047-5531-2174-FEDE84C20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2" y="2217497"/>
            <a:ext cx="824027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08952"/>
      </p:ext>
    </p:extLst>
  </p:cSld>
  <p:clrMapOvr>
    <a:masterClrMapping/>
  </p:clrMapOvr>
</p:sld>
</file>

<file path=ppt/theme/theme1.xml><?xml version="1.0" encoding="utf-8"?>
<a:theme xmlns:a="http://schemas.openxmlformats.org/drawingml/2006/main" name="Pastel Watercolor Mental Health Clinic by Slidesgo">
  <a:themeElements>
    <a:clrScheme name="Simple Light">
      <a:dk1>
        <a:srgbClr val="000000"/>
      </a:dk1>
      <a:lt1>
        <a:srgbClr val="F5F0EC"/>
      </a:lt1>
      <a:dk2>
        <a:srgbClr val="659DA9"/>
      </a:dk2>
      <a:lt2>
        <a:srgbClr val="EDCB69"/>
      </a:lt2>
      <a:accent1>
        <a:srgbClr val="385A9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On-screen Show (16:9)</PresentationFormat>
  <Paragraphs>46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 Condensed Light</vt:lpstr>
      <vt:lpstr>Cambay</vt:lpstr>
      <vt:lpstr>DM Serif Text</vt:lpstr>
      <vt:lpstr>Arial</vt:lpstr>
      <vt:lpstr>Pastel Watercolor Mental Health Clinic by Slidesgo</vt:lpstr>
      <vt:lpstr>HEALTHCARE AND WELLNESS</vt:lpstr>
      <vt:lpstr>THE CORE VISION</vt:lpstr>
      <vt:lpstr>TARGET AUDIENCES: THE THREE PILLARS</vt:lpstr>
      <vt:lpstr>PowerPoint Presentation</vt:lpstr>
      <vt:lpstr>PowerPoint Presentation</vt:lpstr>
      <vt:lpstr>THE TECHNOLOGY SOLUTION: "SIDE-BY-SIDE" AI</vt:lpstr>
      <vt:lpstr>THE SOCIAL SOLUTION: EMPLOYMENT &amp; VETTING</vt:lpstr>
      <vt:lpstr>THE FAMILY &amp; COMMUNITY PROGRAM</vt:lpstr>
      <vt:lpstr>SAFETY &amp; PRIVACY FRAMEWORK</vt:lpstr>
      <vt:lpstr>SOLUTION WORKFLOW: HOW IT WORKS</vt:lpstr>
      <vt:lpstr>COMPARATIVE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Toshan Ranade</cp:lastModifiedBy>
  <cp:revision>1</cp:revision>
  <dcterms:modified xsi:type="dcterms:W3CDTF">2026-02-01T11:02:38Z</dcterms:modified>
</cp:coreProperties>
</file>